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Φωτεινό στυλ 1 - Έμφαση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Φωτεινό στυλ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3CDFB-393F-4E98-A86E-A82EA6829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138D1-5060-4DAA-BD88-3506125F9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1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138D1-5060-4DAA-BD88-3506125F98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97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138D1-5060-4DAA-BD88-3506125F98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78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138D1-5060-4DAA-BD88-3506125F98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33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138D1-5060-4DAA-BD88-3506125F98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6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C2A6AB8-512C-708D-69B1-98A2FA587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CBCD754-77B5-C24D-9682-1ED48E76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6BE530D-6350-DBBF-9620-19D566F1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5650FDF-6A96-7A04-3BC5-3C43C580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402D667-EC04-AC5A-6A7F-11ECB8CD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2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01A0E14-43E4-70D2-1F90-8663C333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5E6F556-3704-C3AF-DDB8-1A35706FF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627CD61-ABAB-EA7C-FA60-7882D6B8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92B173D-C0F2-1E2D-5233-1AC8E635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7025C50-7496-18E6-6BAA-D9A9E353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D889B7-DFA6-6F11-ED94-3B9BA950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241BDE6-D673-853A-5E95-2427F9E09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B4C4186-14C1-40CE-6973-BA455313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68F8D37-FA7B-5AE1-F00F-00719A49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917021A-CD88-9872-0B60-9228CCEA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8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0C82FEC-EF6B-46C5-B14D-F715A46D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44DE0DF-89A9-E992-8957-2C644EDA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A23F0AB-902A-70A0-BA3C-882D38090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AEE5A17-1595-7CEE-5B0B-A28E0BD4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EC003F4-5E67-7B5B-FE14-5EB2B355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9E9804D-3523-296E-6695-8CCD8C0B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7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69EF8D-AF12-3538-2F4B-8980C8AB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4CDCD09-4B7A-33CC-85E4-E7D3DD98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B6917603-5B04-A30E-B700-1BF92F806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4B76D7D0-D32E-E908-C18E-6E2B3ABA9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6310BD4E-4071-65A8-AC07-6CFE8A267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D9411B5-1B4C-D5E0-4501-5A23D6CC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BB457321-AF08-FDC5-EE05-72501E7D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9A7FFCC8-7A58-4CD4-F708-38FDFC49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2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0238616-5500-EDF9-7356-CD505BF8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B69D64E4-9517-50EA-4BE2-E763BC927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698F290-044C-E17E-A006-02A660F1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B38F2D6-8916-D5AD-A7E1-4FEC0004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9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19F67F6-6071-ED97-DF13-C10F7258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40B0A977-2453-2463-CBFC-38473B13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D51E0BA-F224-933E-B2E6-BC11FE79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5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36F79E-9D9A-72DD-A1E1-43B4BCC9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97BDBA6-6129-3322-533D-C663242F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12781EE9-96CE-7F93-F4CB-B5ED384CE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458D428-3762-58FA-89A9-D5E873F4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93C48CC-933D-4DD8-660A-A7D02DC5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D1DA0965-C64B-C55A-4F3C-187F8BB0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C11A364-9768-7EB1-A541-7D8C6691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6FE34A5D-DF59-04FD-EF2D-D5C31A586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A12BDE22-A73F-C343-5F82-8497F9501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6B309210-04D4-1C1F-1721-848C2066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86ED9D65-70D5-67D6-3450-39557CC2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3777A86-EAC4-1C0B-7BA0-FFECFCDA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7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5CB8CD7-FF03-4CC4-51CD-29C48AAC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B8EF15F-1C52-5EB4-DEB7-010888CE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4022937-61BB-E43A-5B66-7A4F6A0C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D25F3EA-BB27-6BD9-2112-3CBF4A18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ECC64B3-6643-E422-0013-21380AC6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3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610B7D55-131D-5590-91A5-3E4F61F8E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BA3EBD2-C8E3-38AD-0E34-A4886B316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D089889-9DEF-E06E-FC18-DC2CF123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A137192-8E46-AD88-EACB-DCFD8AFE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1AA2724-7944-DE81-707B-D1E185D1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1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C6EFB6EC-3D58-8EA1-BCEE-A086AF08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6C26DFB-746B-D036-4E2F-79A6C3202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159761F-E42F-B9B2-436F-FD4E60941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EC8EE-D1B0-432D-BE7C-71AEE6B9495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E927528-C859-DFBD-1C3B-BF24675D0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4FBDE55-CF3C-EAB0-65B0-10D734B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54461-273E-472A-B2F5-6CEF72F4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91C908-B3A4-BA7C-C010-CD75B98F4F10}"/>
              </a:ext>
            </a:extLst>
          </p:cNvPr>
          <p:cNvSpPr txBox="1"/>
          <p:nvPr/>
        </p:nvSpPr>
        <p:spPr>
          <a:xfrm>
            <a:off x="612453" y="2228671"/>
            <a:ext cx="5049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Natural Language Processing for Sentiment Analysis of Employee Reviews</a:t>
            </a:r>
          </a:p>
        </p:txBody>
      </p:sp>
      <p:pic>
        <p:nvPicPr>
          <p:cNvPr id="4100" name="Picture 4" descr="How Natural Language Processing can Revolutionize Human Resources - AIHR">
            <a:extLst>
              <a:ext uri="{FF2B5EF4-FFF2-40B4-BE49-F238E27FC236}">
                <a16:creationId xmlns:a16="http://schemas.microsoft.com/office/drawing/2014/main" id="{73EB06E8-D228-B553-64B9-C96A34C41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894" y="143539"/>
            <a:ext cx="6096000" cy="63795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8F6E9-415F-F724-071F-0067CD34A96E}"/>
              </a:ext>
            </a:extLst>
          </p:cNvPr>
          <p:cNvSpPr txBox="1"/>
          <p:nvPr/>
        </p:nvSpPr>
        <p:spPr>
          <a:xfrm>
            <a:off x="0" y="4765105"/>
            <a:ext cx="62741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b="0" i="0" dirty="0">
                <a:effectLst/>
              </a:rPr>
              <a:t>Author</a:t>
            </a:r>
          </a:p>
          <a:p>
            <a:pPr algn="ctr">
              <a:buNone/>
            </a:pPr>
            <a:r>
              <a:rPr lang="en-US" b="1" i="0" dirty="0">
                <a:solidFill>
                  <a:srgbClr val="9E0000"/>
                </a:solidFill>
                <a:effectLst/>
              </a:rPr>
              <a:t>Ioanna Gigante</a:t>
            </a:r>
          </a:p>
          <a:p>
            <a:pPr algn="ctr">
              <a:buNone/>
            </a:pPr>
            <a:endParaRPr lang="en-US" b="1" i="0" dirty="0">
              <a:solidFill>
                <a:srgbClr val="9E0000"/>
              </a:solidFill>
              <a:effectLst/>
            </a:endParaRPr>
          </a:p>
          <a:p>
            <a:pPr algn="ctr">
              <a:spcAft>
                <a:spcPts val="600"/>
              </a:spcAft>
              <a:buNone/>
            </a:pPr>
            <a:r>
              <a:rPr lang="en-US" b="0" i="0" dirty="0">
                <a:effectLst/>
              </a:rPr>
              <a:t>Institution</a:t>
            </a:r>
          </a:p>
          <a:p>
            <a:pPr algn="ctr"/>
            <a:r>
              <a:rPr lang="en-US" b="1" dirty="0">
                <a:solidFill>
                  <a:srgbClr val="9E0000"/>
                </a:solidFill>
              </a:rPr>
              <a:t>Athens University of Economics &amp; Business</a:t>
            </a:r>
          </a:p>
        </p:txBody>
      </p:sp>
    </p:spTree>
    <p:extLst>
      <p:ext uri="{BB962C8B-B14F-4D97-AF65-F5344CB8AC3E}">
        <p14:creationId xmlns:p14="http://schemas.microsoft.com/office/powerpoint/2010/main" val="275856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345179-D7A6-883C-9D93-2D754C3D61B0}"/>
              </a:ext>
            </a:extLst>
          </p:cNvPr>
          <p:cNvSpPr txBox="1"/>
          <p:nvPr/>
        </p:nvSpPr>
        <p:spPr>
          <a:xfrm>
            <a:off x="584791" y="159488"/>
            <a:ext cx="2924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Introduction</a:t>
            </a:r>
            <a:r>
              <a:rPr lang="el-GR" sz="2400" dirty="0"/>
              <a:t> &amp; </a:t>
            </a:r>
            <a:r>
              <a:rPr lang="en-US" sz="2400" dirty="0"/>
              <a:t>Goals</a:t>
            </a: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C9EA4B0B-59E7-B2D0-6BFC-3D6513FF9CFD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AED565-F52D-BC39-064F-14A99C39E1BA}"/>
              </a:ext>
            </a:extLst>
          </p:cNvPr>
          <p:cNvSpPr txBox="1"/>
          <p:nvPr/>
        </p:nvSpPr>
        <p:spPr>
          <a:xfrm>
            <a:off x="584791" y="814861"/>
            <a:ext cx="1115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Οι </a:t>
            </a:r>
            <a:r>
              <a:rPr lang="en-US" dirty="0"/>
              <a:t>online </a:t>
            </a:r>
            <a:r>
              <a:rPr lang="el-GR" dirty="0"/>
              <a:t>κριτικές αποτελούν σημαντική πηγή πληροφοριών τόσο για τις εταιρείες όσο και για τους εργαζόμενους. Ωστόσο, η ανάλυση μεγάλων όγκων μη δομημένου κειμένου είναι δύσκολη. Το NLP και η Μηχανική Μάθηση επιτρέπουν την ανάλυση τους. </a:t>
            </a:r>
            <a:br>
              <a:rPr lang="el-GR" dirty="0"/>
            </a:br>
            <a:endParaRPr lang="en-US" dirty="0"/>
          </a:p>
        </p:txBody>
      </p:sp>
      <p:sp>
        <p:nvSpPr>
          <p:cNvPr id="24" name="Κύκλος: Κενός 23">
            <a:extLst>
              <a:ext uri="{FF2B5EF4-FFF2-40B4-BE49-F238E27FC236}">
                <a16:creationId xmlns:a16="http://schemas.microsoft.com/office/drawing/2014/main" id="{2E4E36E9-92D2-6567-49F1-77D55EC461F4}"/>
              </a:ext>
            </a:extLst>
          </p:cNvPr>
          <p:cNvSpPr/>
          <p:nvPr/>
        </p:nvSpPr>
        <p:spPr>
          <a:xfrm>
            <a:off x="1073887" y="3391789"/>
            <a:ext cx="1828800" cy="1828800"/>
          </a:xfrm>
          <a:prstGeom prst="donut">
            <a:avLst>
              <a:gd name="adj" fmla="val 637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Κύκλος: Κενός 24">
            <a:extLst>
              <a:ext uri="{FF2B5EF4-FFF2-40B4-BE49-F238E27FC236}">
                <a16:creationId xmlns:a16="http://schemas.microsoft.com/office/drawing/2014/main" id="{8F2D82CD-8474-687C-BD1F-0C5249C5BA5F}"/>
              </a:ext>
            </a:extLst>
          </p:cNvPr>
          <p:cNvSpPr/>
          <p:nvPr/>
        </p:nvSpPr>
        <p:spPr>
          <a:xfrm>
            <a:off x="1348207" y="3666109"/>
            <a:ext cx="1280160" cy="1280160"/>
          </a:xfrm>
          <a:prstGeom prst="donut">
            <a:avLst>
              <a:gd name="adj" fmla="val 9616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Κύκλος: Κενός 25">
            <a:extLst>
              <a:ext uri="{FF2B5EF4-FFF2-40B4-BE49-F238E27FC236}">
                <a16:creationId xmlns:a16="http://schemas.microsoft.com/office/drawing/2014/main" id="{9EC66862-2A45-A6BA-F38E-CA9FBDBBEC66}"/>
              </a:ext>
            </a:extLst>
          </p:cNvPr>
          <p:cNvSpPr/>
          <p:nvPr/>
        </p:nvSpPr>
        <p:spPr>
          <a:xfrm>
            <a:off x="1622527" y="3940429"/>
            <a:ext cx="731520" cy="731520"/>
          </a:xfrm>
          <a:prstGeom prst="donut">
            <a:avLst>
              <a:gd name="adj" fmla="val 1543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Εικόνα 1025">
            <a:extLst>
              <a:ext uri="{FF2B5EF4-FFF2-40B4-BE49-F238E27FC236}">
                <a16:creationId xmlns:a16="http://schemas.microsoft.com/office/drawing/2014/main" id="{C3B85BAB-E5B3-C7AB-D197-B043B866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287" y="3144757"/>
            <a:ext cx="1304657" cy="1109568"/>
          </a:xfrm>
          <a:prstGeom prst="rect">
            <a:avLst/>
          </a:prstGeom>
        </p:spPr>
      </p:pic>
      <p:pic>
        <p:nvPicPr>
          <p:cNvPr id="1027" name="Εικόνα 1026">
            <a:extLst>
              <a:ext uri="{FF2B5EF4-FFF2-40B4-BE49-F238E27FC236}">
                <a16:creationId xmlns:a16="http://schemas.microsoft.com/office/drawing/2014/main" id="{06587238-D92E-C510-B9FB-7EC19BD1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77041">
            <a:off x="2170933" y="3586802"/>
            <a:ext cx="1304657" cy="1109568"/>
          </a:xfrm>
          <a:prstGeom prst="rect">
            <a:avLst/>
          </a:prstGeom>
        </p:spPr>
      </p:pic>
      <p:pic>
        <p:nvPicPr>
          <p:cNvPr id="1029" name="Εικόνα 1028">
            <a:extLst>
              <a:ext uri="{FF2B5EF4-FFF2-40B4-BE49-F238E27FC236}">
                <a16:creationId xmlns:a16="http://schemas.microsoft.com/office/drawing/2014/main" id="{53E05730-02E4-65B5-E17F-F2BD173A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262821">
            <a:off x="2160558" y="3998144"/>
            <a:ext cx="1304657" cy="1109568"/>
          </a:xfrm>
          <a:prstGeom prst="rect">
            <a:avLst/>
          </a:prstGeom>
        </p:spPr>
      </p:pic>
      <p:pic>
        <p:nvPicPr>
          <p:cNvPr id="1031" name="Εικόνα 1030">
            <a:extLst>
              <a:ext uri="{FF2B5EF4-FFF2-40B4-BE49-F238E27FC236}">
                <a16:creationId xmlns:a16="http://schemas.microsoft.com/office/drawing/2014/main" id="{0F467C01-9DCE-241A-6A61-C8784CB1A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232984">
            <a:off x="1915464" y="4397639"/>
            <a:ext cx="1304657" cy="1109568"/>
          </a:xfrm>
          <a:prstGeom prst="rect">
            <a:avLst/>
          </a:prstGeom>
        </p:spPr>
      </p:pic>
      <p:sp>
        <p:nvSpPr>
          <p:cNvPr id="27" name="Οβάλ 26">
            <a:extLst>
              <a:ext uri="{FF2B5EF4-FFF2-40B4-BE49-F238E27FC236}">
                <a16:creationId xmlns:a16="http://schemas.microsoft.com/office/drawing/2014/main" id="{F561E4FE-B8E3-2495-0438-C115082B5420}"/>
              </a:ext>
            </a:extLst>
          </p:cNvPr>
          <p:cNvSpPr/>
          <p:nvPr/>
        </p:nvSpPr>
        <p:spPr>
          <a:xfrm>
            <a:off x="1896847" y="4214749"/>
            <a:ext cx="182880" cy="1828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48C850F8-A701-B7CF-8745-96FE42CC716B}"/>
              </a:ext>
            </a:extLst>
          </p:cNvPr>
          <p:cNvSpPr txBox="1"/>
          <p:nvPr/>
        </p:nvSpPr>
        <p:spPr>
          <a:xfrm>
            <a:off x="4937368" y="2378395"/>
            <a:ext cx="6705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Εφαρμογή μεθόδων </a:t>
            </a:r>
            <a:r>
              <a:rPr lang="en-US" dirty="0"/>
              <a:t>NLP </a:t>
            </a:r>
            <a:r>
              <a:rPr lang="el-GR" dirty="0"/>
              <a:t>σε πραγματικά δεδομένα και χρήση </a:t>
            </a:r>
            <a:r>
              <a:rPr lang="en-US" dirty="0"/>
              <a:t>transformer- based</a:t>
            </a:r>
            <a:r>
              <a:rPr lang="el-GR" dirty="0"/>
              <a:t> μοντέλων για </a:t>
            </a:r>
            <a:r>
              <a:rPr lang="en-US" dirty="0"/>
              <a:t>aspect- based</a:t>
            </a:r>
            <a:r>
              <a:rPr lang="el-GR" dirty="0"/>
              <a:t> ανάλυση συναισθημάτων.  </a:t>
            </a:r>
            <a:r>
              <a:rPr lang="en-US" dirty="0"/>
              <a:t> 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CFDED131-C8CC-FDAC-28AF-C1DFE1AB8D8C}"/>
              </a:ext>
            </a:extLst>
          </p:cNvPr>
          <p:cNvSpPr txBox="1"/>
          <p:nvPr/>
        </p:nvSpPr>
        <p:spPr>
          <a:xfrm>
            <a:off x="4937368" y="3401361"/>
            <a:ext cx="6705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Ανάπτυξη ενός πλήρους </a:t>
            </a:r>
            <a:r>
              <a:rPr lang="el-GR" dirty="0" err="1"/>
              <a:t>pipeline</a:t>
            </a:r>
            <a:r>
              <a:rPr lang="el-GR" dirty="0"/>
              <a:t> ανάλυσης και αξιολόγησης της απόδοσης του μοντέλου, με χρήση κατάλληλων μετρικών όπως </a:t>
            </a:r>
            <a:r>
              <a:rPr lang="el-GR" dirty="0" err="1"/>
              <a:t>Precision</a:t>
            </a:r>
            <a:r>
              <a:rPr lang="el-GR" dirty="0"/>
              <a:t>, </a:t>
            </a:r>
            <a:r>
              <a:rPr lang="el-GR" dirty="0" err="1"/>
              <a:t>Recall</a:t>
            </a:r>
            <a:r>
              <a:rPr lang="el-GR" dirty="0"/>
              <a:t>, F1-score και </a:t>
            </a:r>
            <a:r>
              <a:rPr lang="el-GR" dirty="0" err="1"/>
              <a:t>Accuracy</a:t>
            </a:r>
            <a:r>
              <a:rPr lang="el-GR" dirty="0"/>
              <a:t>.</a:t>
            </a:r>
            <a:endParaRPr lang="en-US" dirty="0"/>
          </a:p>
        </p:txBody>
      </p:sp>
      <p:grpSp>
        <p:nvGrpSpPr>
          <p:cNvPr id="1041" name="Ομάδα 1040">
            <a:extLst>
              <a:ext uri="{FF2B5EF4-FFF2-40B4-BE49-F238E27FC236}">
                <a16:creationId xmlns:a16="http://schemas.microsoft.com/office/drawing/2014/main" id="{F6404F4B-B899-91F3-5167-7B70992E211F}"/>
              </a:ext>
            </a:extLst>
          </p:cNvPr>
          <p:cNvGrpSpPr/>
          <p:nvPr/>
        </p:nvGrpSpPr>
        <p:grpSpPr>
          <a:xfrm>
            <a:off x="4197461" y="2547673"/>
            <a:ext cx="457200" cy="584775"/>
            <a:chOff x="3933727" y="2582850"/>
            <a:chExt cx="457200" cy="584775"/>
          </a:xfrm>
        </p:grpSpPr>
        <p:sp>
          <p:nvSpPr>
            <p:cNvPr id="1039" name="Οβάλ 1038">
              <a:extLst>
                <a:ext uri="{FF2B5EF4-FFF2-40B4-BE49-F238E27FC236}">
                  <a16:creationId xmlns:a16="http://schemas.microsoft.com/office/drawing/2014/main" id="{F76B594F-7F72-4A68-16FE-3139E8C96D7E}"/>
                </a:ext>
              </a:extLst>
            </p:cNvPr>
            <p:cNvSpPr/>
            <p:nvPr/>
          </p:nvSpPr>
          <p:spPr>
            <a:xfrm>
              <a:off x="3933727" y="2646638"/>
              <a:ext cx="457200" cy="457200"/>
            </a:xfrm>
            <a:prstGeom prst="ellips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2857204B-DEB6-D982-C334-E49E7A8B6BAF}"/>
                </a:ext>
              </a:extLst>
            </p:cNvPr>
            <p:cNvSpPr txBox="1"/>
            <p:nvPr/>
          </p:nvSpPr>
          <p:spPr>
            <a:xfrm>
              <a:off x="3986649" y="2582850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3200" b="1" dirty="0">
                  <a:solidFill>
                    <a:srgbClr val="0070C0"/>
                  </a:solidFill>
                </a:rPr>
                <a:t>&gt;</a:t>
              </a:r>
              <a:endParaRPr lang="en-US" sz="32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042" name="Ομάδα 1041">
            <a:extLst>
              <a:ext uri="{FF2B5EF4-FFF2-40B4-BE49-F238E27FC236}">
                <a16:creationId xmlns:a16="http://schemas.microsoft.com/office/drawing/2014/main" id="{A7625746-DEA8-78E3-ED75-4B15B5A789A1}"/>
              </a:ext>
            </a:extLst>
          </p:cNvPr>
          <p:cNvGrpSpPr/>
          <p:nvPr/>
        </p:nvGrpSpPr>
        <p:grpSpPr>
          <a:xfrm>
            <a:off x="4197461" y="3570639"/>
            <a:ext cx="457200" cy="584775"/>
            <a:chOff x="3933727" y="2582850"/>
            <a:chExt cx="457200" cy="584775"/>
          </a:xfrm>
          <a:noFill/>
        </p:grpSpPr>
        <p:sp>
          <p:nvSpPr>
            <p:cNvPr id="1043" name="Οβάλ 1042">
              <a:extLst>
                <a:ext uri="{FF2B5EF4-FFF2-40B4-BE49-F238E27FC236}">
                  <a16:creationId xmlns:a16="http://schemas.microsoft.com/office/drawing/2014/main" id="{533DFB7F-5779-3069-6DB6-0889EBA16E0F}"/>
                </a:ext>
              </a:extLst>
            </p:cNvPr>
            <p:cNvSpPr/>
            <p:nvPr/>
          </p:nvSpPr>
          <p:spPr>
            <a:xfrm>
              <a:off x="3933727" y="2646638"/>
              <a:ext cx="457200" cy="457200"/>
            </a:xfrm>
            <a:prstGeom prst="ellipse">
              <a:avLst/>
            </a:prstGeom>
            <a:grpFill/>
            <a:ln w="57150">
              <a:solidFill>
                <a:srgbClr val="9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E0000"/>
                </a:solidFill>
              </a:endParaRP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D1CABA20-1852-C924-7C8B-E6B97FB39D7B}"/>
                </a:ext>
              </a:extLst>
            </p:cNvPr>
            <p:cNvSpPr txBox="1"/>
            <p:nvPr/>
          </p:nvSpPr>
          <p:spPr>
            <a:xfrm>
              <a:off x="3986649" y="2582850"/>
              <a:ext cx="404278" cy="584775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l-GR" sz="3200" b="1" dirty="0">
                  <a:solidFill>
                    <a:srgbClr val="9E0000"/>
                  </a:solidFill>
                </a:rPr>
                <a:t>&gt;</a:t>
              </a:r>
              <a:endParaRPr lang="en-US" sz="3200" b="1" dirty="0">
                <a:solidFill>
                  <a:srgbClr val="9E0000"/>
                </a:solidFill>
              </a:endParaRPr>
            </a:p>
          </p:txBody>
        </p:sp>
      </p:grpSp>
      <p:grpSp>
        <p:nvGrpSpPr>
          <p:cNvPr id="1045" name="Ομάδα 1044">
            <a:extLst>
              <a:ext uri="{FF2B5EF4-FFF2-40B4-BE49-F238E27FC236}">
                <a16:creationId xmlns:a16="http://schemas.microsoft.com/office/drawing/2014/main" id="{96150B91-64FF-3E4C-1AE4-10EA8F2F7E77}"/>
              </a:ext>
            </a:extLst>
          </p:cNvPr>
          <p:cNvGrpSpPr/>
          <p:nvPr/>
        </p:nvGrpSpPr>
        <p:grpSpPr>
          <a:xfrm>
            <a:off x="4197461" y="4593605"/>
            <a:ext cx="457200" cy="584775"/>
            <a:chOff x="3933727" y="2582850"/>
            <a:chExt cx="457200" cy="584775"/>
          </a:xfrm>
        </p:grpSpPr>
        <p:sp>
          <p:nvSpPr>
            <p:cNvPr id="1046" name="Οβάλ 1045">
              <a:extLst>
                <a:ext uri="{FF2B5EF4-FFF2-40B4-BE49-F238E27FC236}">
                  <a16:creationId xmlns:a16="http://schemas.microsoft.com/office/drawing/2014/main" id="{E427DFC2-C670-288F-CA88-FBBE701E1FB7}"/>
                </a:ext>
              </a:extLst>
            </p:cNvPr>
            <p:cNvSpPr/>
            <p:nvPr/>
          </p:nvSpPr>
          <p:spPr>
            <a:xfrm>
              <a:off x="3933727" y="2646638"/>
              <a:ext cx="457200" cy="457200"/>
            </a:xfrm>
            <a:prstGeom prst="ellipse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F677927D-907F-D336-C3B9-78608A9BC164}"/>
                </a:ext>
              </a:extLst>
            </p:cNvPr>
            <p:cNvSpPr txBox="1"/>
            <p:nvPr/>
          </p:nvSpPr>
          <p:spPr>
            <a:xfrm>
              <a:off x="3986649" y="2582850"/>
              <a:ext cx="4042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l-GR" sz="3200" b="1" dirty="0">
                  <a:solidFill>
                    <a:srgbClr val="00B050"/>
                  </a:solidFill>
                </a:rPr>
                <a:t>&gt;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1048" name="TextBox 1047">
            <a:extLst>
              <a:ext uri="{FF2B5EF4-FFF2-40B4-BE49-F238E27FC236}">
                <a16:creationId xmlns:a16="http://schemas.microsoft.com/office/drawing/2014/main" id="{883A3EB5-1C80-4177-11A3-7865B99460C4}"/>
              </a:ext>
            </a:extLst>
          </p:cNvPr>
          <p:cNvSpPr txBox="1"/>
          <p:nvPr/>
        </p:nvSpPr>
        <p:spPr>
          <a:xfrm>
            <a:off x="4937368" y="4627141"/>
            <a:ext cx="670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Παραγωγή εφαρμόσιμων πληροφοριών σχετικά με τις εμπειρίες των εργαζομένων.</a:t>
            </a:r>
            <a:endParaRPr lang="en-US" dirty="0"/>
          </a:p>
        </p:txBody>
      </p:sp>
      <p:grpSp>
        <p:nvGrpSpPr>
          <p:cNvPr id="1052" name="Ομάδα 1051">
            <a:extLst>
              <a:ext uri="{FF2B5EF4-FFF2-40B4-BE49-F238E27FC236}">
                <a16:creationId xmlns:a16="http://schemas.microsoft.com/office/drawing/2014/main" id="{7EED84BC-9A57-FEC3-BC2D-5EBB1FD56F30}"/>
              </a:ext>
            </a:extLst>
          </p:cNvPr>
          <p:cNvGrpSpPr/>
          <p:nvPr/>
        </p:nvGrpSpPr>
        <p:grpSpPr>
          <a:xfrm>
            <a:off x="4197461" y="5610913"/>
            <a:ext cx="457200" cy="584775"/>
            <a:chOff x="3933727" y="2582850"/>
            <a:chExt cx="457200" cy="584775"/>
          </a:xfrm>
        </p:grpSpPr>
        <p:sp>
          <p:nvSpPr>
            <p:cNvPr id="1053" name="Οβάλ 1052">
              <a:extLst>
                <a:ext uri="{FF2B5EF4-FFF2-40B4-BE49-F238E27FC236}">
                  <a16:creationId xmlns:a16="http://schemas.microsoft.com/office/drawing/2014/main" id="{7540BE10-92BE-E815-8155-8BA45A33769A}"/>
                </a:ext>
              </a:extLst>
            </p:cNvPr>
            <p:cNvSpPr/>
            <p:nvPr/>
          </p:nvSpPr>
          <p:spPr>
            <a:xfrm>
              <a:off x="3933727" y="2646638"/>
              <a:ext cx="457200" cy="4572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75976B8D-96E3-1C79-5D9F-B417D654B7AD}"/>
                </a:ext>
              </a:extLst>
            </p:cNvPr>
            <p:cNvSpPr txBox="1"/>
            <p:nvPr/>
          </p:nvSpPr>
          <p:spPr>
            <a:xfrm>
              <a:off x="3986649" y="2582850"/>
              <a:ext cx="4042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l-GR" sz="3200" b="1" dirty="0">
                  <a:solidFill>
                    <a:srgbClr val="FFC000"/>
                  </a:solidFill>
                </a:rPr>
                <a:t>&gt;</a:t>
              </a:r>
              <a:endParaRPr lang="en-US" sz="32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1056" name="TextBox 1055">
            <a:extLst>
              <a:ext uri="{FF2B5EF4-FFF2-40B4-BE49-F238E27FC236}">
                <a16:creationId xmlns:a16="http://schemas.microsoft.com/office/drawing/2014/main" id="{D0B0355E-C8D6-1E6D-6C4A-DB0FD17112EC}"/>
              </a:ext>
            </a:extLst>
          </p:cNvPr>
          <p:cNvSpPr txBox="1"/>
          <p:nvPr/>
        </p:nvSpPr>
        <p:spPr>
          <a:xfrm>
            <a:off x="4937369" y="5575922"/>
            <a:ext cx="6705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Εντοπισμός θετικών σημείων και περιοχών που χρειάζονται βελτίωση.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5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3D85C-832C-4454-E024-E31400C00C0C}"/>
              </a:ext>
            </a:extLst>
          </p:cNvPr>
          <p:cNvSpPr txBox="1"/>
          <p:nvPr/>
        </p:nvSpPr>
        <p:spPr>
          <a:xfrm>
            <a:off x="584791" y="159488"/>
            <a:ext cx="456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 Collection</a:t>
            </a:r>
            <a:r>
              <a:rPr lang="el-GR" sz="2400" dirty="0"/>
              <a:t> &amp; </a:t>
            </a:r>
            <a:r>
              <a:rPr lang="en-US" sz="2400" dirty="0"/>
              <a:t>Data Overview 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ACB97B2-3857-DC00-B641-0F3B41EC488A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F29B64-ED81-71DA-8AE1-CC7EC39CA8CA}"/>
              </a:ext>
            </a:extLst>
          </p:cNvPr>
          <p:cNvSpPr txBox="1"/>
          <p:nvPr/>
        </p:nvSpPr>
        <p:spPr>
          <a:xfrm>
            <a:off x="584790" y="1416890"/>
            <a:ext cx="2775097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buNone/>
            </a:pPr>
            <a:r>
              <a:rPr lang="el-GR" sz="2000" b="1" dirty="0"/>
              <a:t>Πηγή Δεδομένων</a:t>
            </a:r>
            <a:endParaRPr lang="en-US" sz="2000" b="1" i="0" dirty="0">
              <a:effectLst/>
            </a:endParaRPr>
          </a:p>
          <a:p>
            <a:pPr algn="l">
              <a:buNone/>
            </a:pPr>
            <a:r>
              <a:rPr lang="en-US" b="1" i="0" dirty="0">
                <a:effectLst/>
              </a:rPr>
              <a:t>Platform:</a:t>
            </a:r>
            <a:r>
              <a:rPr lang="en-US" b="0" i="0" dirty="0">
                <a:effectLst/>
              </a:rPr>
              <a:t> Kaggle</a:t>
            </a:r>
            <a:br>
              <a:rPr lang="en-US" b="0" i="0" dirty="0">
                <a:effectLst/>
              </a:rPr>
            </a:br>
            <a:r>
              <a:rPr lang="en-US" b="1" i="0" dirty="0">
                <a:effectLst/>
              </a:rPr>
              <a:t>Source:</a:t>
            </a:r>
            <a:r>
              <a:rPr lang="en-US" b="0" i="0" dirty="0">
                <a:effectLst/>
              </a:rPr>
              <a:t> Glassdoor</a:t>
            </a:r>
            <a:br>
              <a:rPr lang="en-US" b="0" i="0" dirty="0">
                <a:effectLst/>
              </a:rPr>
            </a:br>
            <a:r>
              <a:rPr lang="en-US" b="1" i="0" dirty="0">
                <a:effectLst/>
              </a:rPr>
              <a:t>Type:</a:t>
            </a:r>
            <a:r>
              <a:rPr lang="en-US" b="0" i="0" dirty="0">
                <a:effectLst/>
              </a:rPr>
              <a:t> Employee Reviews</a:t>
            </a:r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CE6DA662-9B60-1CCC-1753-BA6912E5340E}"/>
              </a:ext>
            </a:extLst>
          </p:cNvPr>
          <p:cNvCxnSpPr>
            <a:cxnSpLocks/>
          </p:cNvCxnSpPr>
          <p:nvPr/>
        </p:nvCxnSpPr>
        <p:spPr>
          <a:xfrm>
            <a:off x="608352" y="1229328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4A1CA2-E6F4-97B7-40C7-321597201912}"/>
              </a:ext>
            </a:extLst>
          </p:cNvPr>
          <p:cNvSpPr txBox="1"/>
          <p:nvPr/>
        </p:nvSpPr>
        <p:spPr>
          <a:xfrm>
            <a:off x="3425307" y="1709607"/>
            <a:ext cx="1946793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None/>
            </a:pPr>
            <a:r>
              <a:rPr lang="en-US" b="1" i="0" dirty="0">
                <a:effectLst/>
              </a:rPr>
              <a:t>830.566</a:t>
            </a:r>
          </a:p>
          <a:p>
            <a:pPr algn="l">
              <a:buNone/>
            </a:pPr>
            <a:r>
              <a:rPr lang="en-US" b="0" i="0" cap="all" dirty="0">
                <a:effectLst/>
              </a:rPr>
              <a:t>Total Reviews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3DF0B-013B-FFD3-2EC2-10C2D0E3F2D0}"/>
              </a:ext>
            </a:extLst>
          </p:cNvPr>
          <p:cNvSpPr txBox="1"/>
          <p:nvPr/>
        </p:nvSpPr>
        <p:spPr>
          <a:xfrm>
            <a:off x="476638" y="3519060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Κάθε αξιολόγηση περιλαμβάνει :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0EEFD-4980-807F-55D0-3A8941B875AB}"/>
              </a:ext>
            </a:extLst>
          </p:cNvPr>
          <p:cNvSpPr txBox="1"/>
          <p:nvPr/>
        </p:nvSpPr>
        <p:spPr>
          <a:xfrm>
            <a:off x="669274" y="4048015"/>
            <a:ext cx="2878153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l-GR" sz="2000" b="1" i="0" dirty="0">
                <a:effectLst/>
              </a:rPr>
              <a:t>Δομημένα</a:t>
            </a:r>
            <a:r>
              <a:rPr lang="el-GR" sz="2000" b="1" dirty="0"/>
              <a:t> Δεδομένα</a:t>
            </a:r>
            <a:endParaRPr lang="en-US" sz="20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Όνομα εταιρείας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Τοποθεσία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Θέση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Ημερομηνία κριτικής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Βαθμολογίες</a:t>
            </a:r>
            <a:endParaRPr lang="en-US" b="0" i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3300BE-AC5D-EE82-F3E1-D32CD7402B73}"/>
              </a:ext>
            </a:extLst>
          </p:cNvPr>
          <p:cNvSpPr txBox="1"/>
          <p:nvPr/>
        </p:nvSpPr>
        <p:spPr>
          <a:xfrm>
            <a:off x="3425307" y="4048015"/>
            <a:ext cx="2939782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l-GR" sz="2000" b="1" i="0" dirty="0">
                <a:effectLst/>
              </a:rPr>
              <a:t>Μη Δομημένα Δεδομένα</a:t>
            </a:r>
            <a:endParaRPr lang="en-US" sz="2000" b="1" i="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</a:rPr>
              <a:t>Τίτλος Αξιολόγησης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Θετικές κριτικές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dirty="0"/>
              <a:t>Αρνητικές κριτικές </a:t>
            </a:r>
            <a:br>
              <a:rPr lang="en-US" b="0" i="0" dirty="0">
                <a:solidFill>
                  <a:srgbClr val="37474F"/>
                </a:solidFill>
                <a:effectLst/>
              </a:rPr>
            </a:br>
            <a:endParaRPr lang="en-US" b="0" i="0" dirty="0">
              <a:solidFill>
                <a:srgbClr val="37474F"/>
              </a:solidFill>
              <a:effectLst/>
            </a:endParaRPr>
          </a:p>
        </p:txBody>
      </p:sp>
      <p:cxnSp>
        <p:nvCxnSpPr>
          <p:cNvPr id="26" name="Ευθεία γραμμή σύνδεσης 25">
            <a:extLst>
              <a:ext uri="{FF2B5EF4-FFF2-40B4-BE49-F238E27FC236}">
                <a16:creationId xmlns:a16="http://schemas.microsoft.com/office/drawing/2014/main" id="{746CEC6E-0E3D-0123-58C0-3E9416EAE422}"/>
              </a:ext>
            </a:extLst>
          </p:cNvPr>
          <p:cNvCxnSpPr>
            <a:cxnSpLocks/>
          </p:cNvCxnSpPr>
          <p:nvPr/>
        </p:nvCxnSpPr>
        <p:spPr>
          <a:xfrm>
            <a:off x="3351409" y="4122383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Ευθεία γραμμή σύνδεσης 26">
            <a:extLst>
              <a:ext uri="{FF2B5EF4-FFF2-40B4-BE49-F238E27FC236}">
                <a16:creationId xmlns:a16="http://schemas.microsoft.com/office/drawing/2014/main" id="{68862BA7-3FD4-9006-37ED-D27A6B915065}"/>
              </a:ext>
            </a:extLst>
          </p:cNvPr>
          <p:cNvCxnSpPr>
            <a:cxnSpLocks/>
          </p:cNvCxnSpPr>
          <p:nvPr/>
        </p:nvCxnSpPr>
        <p:spPr>
          <a:xfrm>
            <a:off x="3351647" y="1229328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Ευθεία γραμμή σύνδεσης 27">
            <a:extLst>
              <a:ext uri="{FF2B5EF4-FFF2-40B4-BE49-F238E27FC236}">
                <a16:creationId xmlns:a16="http://schemas.microsoft.com/office/drawing/2014/main" id="{5E3DE437-17AD-90A9-4B4F-D16007065A58}"/>
              </a:ext>
            </a:extLst>
          </p:cNvPr>
          <p:cNvCxnSpPr>
            <a:cxnSpLocks/>
          </p:cNvCxnSpPr>
          <p:nvPr/>
        </p:nvCxnSpPr>
        <p:spPr>
          <a:xfrm>
            <a:off x="607839" y="4110242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872DF75-5874-388C-EAFA-121C87AB4B1F}"/>
              </a:ext>
            </a:extLst>
          </p:cNvPr>
          <p:cNvSpPr txBox="1"/>
          <p:nvPr/>
        </p:nvSpPr>
        <p:spPr>
          <a:xfrm>
            <a:off x="7491985" y="1076165"/>
            <a:ext cx="2934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b="1" dirty="0"/>
              <a:t>Βαθμολογία ανά </a:t>
            </a:r>
            <a:r>
              <a:rPr lang="en-US" sz="2000" b="1" dirty="0"/>
              <a:t>Aspect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DB1532-950E-C859-BDE2-E1FED88958BB}"/>
              </a:ext>
            </a:extLst>
          </p:cNvPr>
          <p:cNvSpPr txBox="1"/>
          <p:nvPr/>
        </p:nvSpPr>
        <p:spPr>
          <a:xfrm>
            <a:off x="6365088" y="1761499"/>
            <a:ext cx="258404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Work – Life Balance</a:t>
            </a:r>
          </a:p>
          <a:p>
            <a:r>
              <a:rPr lang="en-US" b="1" dirty="0"/>
              <a:t>688.672</a:t>
            </a:r>
            <a:r>
              <a:rPr lang="en-US" dirty="0"/>
              <a:t> </a:t>
            </a:r>
            <a:r>
              <a:rPr lang="el-GR" dirty="0"/>
              <a:t>κριτικές </a:t>
            </a:r>
            <a:endParaRPr lang="en-US" dirty="0"/>
          </a:p>
          <a:p>
            <a:r>
              <a:rPr lang="el-GR" dirty="0"/>
              <a:t>Μέση Βαθμολογία </a:t>
            </a:r>
            <a:r>
              <a:rPr lang="el-GR" b="1" dirty="0"/>
              <a:t>3,38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7629D5-E8ED-6ED4-DAC0-80F1B02758CD}"/>
              </a:ext>
            </a:extLst>
          </p:cNvPr>
          <p:cNvSpPr txBox="1"/>
          <p:nvPr/>
        </p:nvSpPr>
        <p:spPr>
          <a:xfrm>
            <a:off x="9119740" y="1762536"/>
            <a:ext cx="2594239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Culture Value</a:t>
            </a:r>
          </a:p>
          <a:p>
            <a:r>
              <a:rPr lang="en-US" b="1" dirty="0"/>
              <a:t>647.193</a:t>
            </a:r>
            <a:r>
              <a:rPr lang="en-US" dirty="0"/>
              <a:t> </a:t>
            </a:r>
            <a:r>
              <a:rPr lang="el-GR" dirty="0"/>
              <a:t>κριτικές</a:t>
            </a:r>
          </a:p>
          <a:p>
            <a:r>
              <a:rPr lang="el-GR" dirty="0"/>
              <a:t> Μέση Βαθμολογία </a:t>
            </a:r>
            <a:r>
              <a:rPr lang="el-GR" b="1" dirty="0"/>
              <a:t>3,59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04C6A0-BF39-B293-8CA4-961A80EF671C}"/>
              </a:ext>
            </a:extLst>
          </p:cNvPr>
          <p:cNvSpPr txBox="1"/>
          <p:nvPr/>
        </p:nvSpPr>
        <p:spPr>
          <a:xfrm>
            <a:off x="6365089" y="2825950"/>
            <a:ext cx="259424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E0000"/>
                </a:solidFill>
              </a:rPr>
              <a:t>Career Opportunities</a:t>
            </a:r>
          </a:p>
          <a:p>
            <a:r>
              <a:rPr lang="en-US" b="1" dirty="0"/>
              <a:t>691.065</a:t>
            </a:r>
            <a:r>
              <a:rPr lang="en-US" dirty="0"/>
              <a:t> </a:t>
            </a:r>
            <a:r>
              <a:rPr lang="el-GR" dirty="0"/>
              <a:t>κριτικές </a:t>
            </a:r>
          </a:p>
          <a:p>
            <a:r>
              <a:rPr lang="el-GR" dirty="0"/>
              <a:t>Μέση Βαθμολογία </a:t>
            </a:r>
            <a:r>
              <a:rPr lang="el-GR" b="1" dirty="0"/>
              <a:t>3,46</a:t>
            </a:r>
            <a:endParaRPr 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76ED34-2EC9-7B70-BB32-9F2B2A39D337}"/>
              </a:ext>
            </a:extLst>
          </p:cNvPr>
          <p:cNvSpPr txBox="1"/>
          <p:nvPr/>
        </p:nvSpPr>
        <p:spPr>
          <a:xfrm>
            <a:off x="9119739" y="2825950"/>
            <a:ext cx="259424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Compensation Benefits</a:t>
            </a:r>
          </a:p>
          <a:p>
            <a:r>
              <a:rPr lang="en-US" b="1" dirty="0"/>
              <a:t>688.484</a:t>
            </a:r>
            <a:r>
              <a:rPr lang="en-US" dirty="0"/>
              <a:t> </a:t>
            </a:r>
            <a:r>
              <a:rPr lang="el-GR" dirty="0"/>
              <a:t>κριτικές </a:t>
            </a:r>
          </a:p>
          <a:p>
            <a:r>
              <a:rPr lang="el-GR" dirty="0"/>
              <a:t>Μέση Βαθμολογία </a:t>
            </a:r>
            <a:r>
              <a:rPr lang="el-GR" b="1" dirty="0"/>
              <a:t>3,4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FC4FE2-E40E-DD76-6A9A-89E5892764D3}"/>
              </a:ext>
            </a:extLst>
          </p:cNvPr>
          <p:cNvSpPr txBox="1"/>
          <p:nvPr/>
        </p:nvSpPr>
        <p:spPr>
          <a:xfrm>
            <a:off x="6365089" y="3956009"/>
            <a:ext cx="259424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Senior Management</a:t>
            </a:r>
          </a:p>
          <a:p>
            <a:r>
              <a:rPr lang="en-US" b="1" dirty="0"/>
              <a:t>682.690</a:t>
            </a:r>
            <a:r>
              <a:rPr lang="en-US" dirty="0"/>
              <a:t> </a:t>
            </a:r>
            <a:r>
              <a:rPr lang="el-GR" dirty="0"/>
              <a:t>κριτικές </a:t>
            </a:r>
          </a:p>
          <a:p>
            <a:r>
              <a:rPr lang="el-GR" dirty="0"/>
              <a:t>Μέση Βαθμολογία </a:t>
            </a:r>
            <a:r>
              <a:rPr lang="el-GR" b="1" dirty="0"/>
              <a:t>3,18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60EB40-0EFA-DA3A-19BB-0D4437BBCA6E}"/>
              </a:ext>
            </a:extLst>
          </p:cNvPr>
          <p:cNvSpPr txBox="1"/>
          <p:nvPr/>
        </p:nvSpPr>
        <p:spPr>
          <a:xfrm>
            <a:off x="9131313" y="3956009"/>
            <a:ext cx="2584049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Diversity Inclusion</a:t>
            </a:r>
          </a:p>
          <a:p>
            <a:r>
              <a:rPr lang="en-US" b="1" dirty="0"/>
              <a:t>136.066</a:t>
            </a:r>
            <a:r>
              <a:rPr lang="en-US" dirty="0"/>
              <a:t> </a:t>
            </a:r>
            <a:r>
              <a:rPr lang="el-GR" dirty="0"/>
              <a:t>κριτικές </a:t>
            </a:r>
          </a:p>
          <a:p>
            <a:r>
              <a:rPr lang="el-GR" dirty="0"/>
              <a:t>Μέση Βαθμολογία </a:t>
            </a:r>
            <a:r>
              <a:rPr lang="el-GR" b="1" dirty="0"/>
              <a:t>3,97</a:t>
            </a:r>
            <a:r>
              <a:rPr lang="el-GR" dirty="0"/>
              <a:t> </a:t>
            </a:r>
            <a:endParaRPr lang="en-US" dirty="0"/>
          </a:p>
        </p:txBody>
      </p:sp>
      <p:cxnSp>
        <p:nvCxnSpPr>
          <p:cNvPr id="38" name="Ευθεία γραμμή σύνδεσης 37">
            <a:extLst>
              <a:ext uri="{FF2B5EF4-FFF2-40B4-BE49-F238E27FC236}">
                <a16:creationId xmlns:a16="http://schemas.microsoft.com/office/drawing/2014/main" id="{D7AEC11E-4C6E-D746-65A0-934A024667AB}"/>
              </a:ext>
            </a:extLst>
          </p:cNvPr>
          <p:cNvCxnSpPr>
            <a:cxnSpLocks/>
          </p:cNvCxnSpPr>
          <p:nvPr/>
        </p:nvCxnSpPr>
        <p:spPr>
          <a:xfrm flipH="1">
            <a:off x="7481789" y="1076164"/>
            <a:ext cx="2941296" cy="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Ευθεία γραμμή σύνδεσης 42">
            <a:extLst>
              <a:ext uri="{FF2B5EF4-FFF2-40B4-BE49-F238E27FC236}">
                <a16:creationId xmlns:a16="http://schemas.microsoft.com/office/drawing/2014/main" id="{68AA2B3E-37AA-7271-6213-3E04C50A889E}"/>
              </a:ext>
            </a:extLst>
          </p:cNvPr>
          <p:cNvCxnSpPr>
            <a:cxnSpLocks/>
          </p:cNvCxnSpPr>
          <p:nvPr/>
        </p:nvCxnSpPr>
        <p:spPr>
          <a:xfrm flipH="1">
            <a:off x="7481789" y="1445497"/>
            <a:ext cx="2934692" cy="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52A4B5A-B5C5-BAF6-9661-8BB8E5595150}"/>
              </a:ext>
            </a:extLst>
          </p:cNvPr>
          <p:cNvSpPr txBox="1"/>
          <p:nvPr/>
        </p:nvSpPr>
        <p:spPr>
          <a:xfrm>
            <a:off x="6365088" y="5217491"/>
            <a:ext cx="5348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FF0000"/>
                </a:solidFill>
              </a:rPr>
              <a:t>*</a:t>
            </a:r>
            <a:r>
              <a:rPr lang="el-GR" sz="1600" dirty="0"/>
              <a:t>Η Διάμεσος (</a:t>
            </a:r>
            <a:r>
              <a:rPr lang="el-GR" sz="1600" dirty="0" err="1"/>
              <a:t>Median</a:t>
            </a:r>
            <a:r>
              <a:rPr lang="el-GR" sz="1600" dirty="0"/>
              <a:t> = 4) για τις περισσότερες πτυχές υποδηλώνει </a:t>
            </a:r>
            <a:r>
              <a:rPr lang="el-GR" sz="1600" b="1" dirty="0"/>
              <a:t>θετική στρέβλωση</a:t>
            </a:r>
            <a:r>
              <a:rPr lang="el-GR" sz="1600" dirty="0"/>
              <a:t> στις κριτικές.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40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76337A-73FD-D4A9-7901-C1DEAD16190B}"/>
              </a:ext>
            </a:extLst>
          </p:cNvPr>
          <p:cNvSpPr txBox="1"/>
          <p:nvPr/>
        </p:nvSpPr>
        <p:spPr>
          <a:xfrm>
            <a:off x="584791" y="159488"/>
            <a:ext cx="456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 Collection</a:t>
            </a:r>
            <a:r>
              <a:rPr lang="el-GR" sz="2400" dirty="0"/>
              <a:t> &amp; </a:t>
            </a:r>
            <a:r>
              <a:rPr lang="en-US" sz="2400" dirty="0"/>
              <a:t>Data Overview 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4D479D4E-98F2-00C0-0760-F649EF5194CF}"/>
              </a:ext>
            </a:extLst>
          </p:cNvPr>
          <p:cNvCxnSpPr>
            <a:cxnSpLocks/>
          </p:cNvCxnSpPr>
          <p:nvPr/>
        </p:nvCxnSpPr>
        <p:spPr>
          <a:xfrm>
            <a:off x="567070" y="559598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D659FF-F1E7-4635-B4EC-5688A2565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91" y="3782465"/>
            <a:ext cx="5370514" cy="2795732"/>
          </a:xfrm>
          <a:prstGeom prst="rect">
            <a:avLst/>
          </a:prstGeom>
          <a:noFill/>
          <a:ln w="19050">
            <a:solidFill>
              <a:srgbClr val="9E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F45D2582-2FFE-E88D-FA0F-1B1B4C53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780" y="773169"/>
            <a:ext cx="5391150" cy="2795730"/>
          </a:xfrm>
          <a:prstGeom prst="rect">
            <a:avLst/>
          </a:prstGeom>
          <a:ln w="19050">
            <a:solidFill>
              <a:srgbClr val="9E0000"/>
            </a:solidFill>
          </a:ln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6EDEA905-E2BA-9679-652E-7C68025DA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91" y="773169"/>
            <a:ext cx="5370514" cy="2795730"/>
          </a:xfrm>
          <a:prstGeom prst="rect">
            <a:avLst/>
          </a:prstGeom>
          <a:ln w="19050">
            <a:solidFill>
              <a:srgbClr val="9E0000"/>
            </a:solidFill>
          </a:ln>
        </p:spPr>
      </p:pic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05D0CB65-FED6-AC39-D450-3D4CF8F2DB5C}"/>
              </a:ext>
            </a:extLst>
          </p:cNvPr>
          <p:cNvSpPr/>
          <p:nvPr/>
        </p:nvSpPr>
        <p:spPr>
          <a:xfrm>
            <a:off x="6233780" y="3782468"/>
            <a:ext cx="5370514" cy="2795729"/>
          </a:xfrm>
          <a:prstGeom prst="rect">
            <a:avLst/>
          </a:prstGeom>
          <a:noFill/>
          <a:ln>
            <a:solidFill>
              <a:srgbClr val="9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4F703-1D8E-1E50-C21F-00306248307F}"/>
              </a:ext>
            </a:extLst>
          </p:cNvPr>
          <p:cNvSpPr txBox="1"/>
          <p:nvPr/>
        </p:nvSpPr>
        <p:spPr>
          <a:xfrm>
            <a:off x="6233780" y="3871365"/>
            <a:ext cx="537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b="1" dirty="0"/>
              <a:t>789.351</a:t>
            </a:r>
            <a:r>
              <a:rPr lang="el-GR" dirty="0"/>
              <a:t> θετικές κριτικές - </a:t>
            </a:r>
            <a:r>
              <a:rPr lang="el-GR" b="1" dirty="0"/>
              <a:t>472.091</a:t>
            </a:r>
            <a:r>
              <a:rPr lang="el-GR" dirty="0"/>
              <a:t> αρνητικές - </a:t>
            </a:r>
            <a:r>
              <a:rPr lang="el-GR" b="1" dirty="0"/>
              <a:t>345.441</a:t>
            </a:r>
            <a:r>
              <a:rPr lang="el-GR" dirty="0"/>
              <a:t> ουδέτερες κριτικές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20EFD-3521-7C38-A9D4-D253A38AB388}"/>
              </a:ext>
            </a:extLst>
          </p:cNvPr>
          <p:cNvSpPr txBox="1"/>
          <p:nvPr/>
        </p:nvSpPr>
        <p:spPr>
          <a:xfrm>
            <a:off x="6254416" y="4992095"/>
            <a:ext cx="53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Οι περισσότερες κριτικές είναι μικρές σε μέγεθος 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20198D-06B0-CCEA-0540-36E141C4D226}"/>
              </a:ext>
            </a:extLst>
          </p:cNvPr>
          <p:cNvSpPr txBox="1"/>
          <p:nvPr/>
        </p:nvSpPr>
        <p:spPr>
          <a:xfrm>
            <a:off x="6254416" y="5835825"/>
            <a:ext cx="537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Πιο συχνές λέξεις : </a:t>
            </a:r>
            <a:r>
              <a:rPr lang="en-US" dirty="0"/>
              <a:t>Work , Good, People, Opportunity etc.. </a:t>
            </a:r>
            <a:r>
              <a:rPr lang="el-GR" dirty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52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B70D89-A1ED-2EB8-3A54-A9D76FD7FDED}"/>
              </a:ext>
            </a:extLst>
          </p:cNvPr>
          <p:cNvSpPr txBox="1"/>
          <p:nvPr/>
        </p:nvSpPr>
        <p:spPr>
          <a:xfrm>
            <a:off x="584791" y="159488"/>
            <a:ext cx="6105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 Processing, Annotation, Normalization  </a:t>
            </a:r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385B0865-8036-B9AD-784D-B56260F5EC11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DD1210-A7FC-F6F4-673A-DB6F5C1BBC09}"/>
              </a:ext>
            </a:extLst>
          </p:cNvPr>
          <p:cNvSpPr txBox="1"/>
          <p:nvPr/>
        </p:nvSpPr>
        <p:spPr>
          <a:xfrm>
            <a:off x="584791" y="832818"/>
            <a:ext cx="1105786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Text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Μετατροπή όλων των γραμμάτων σε πεζά</a:t>
            </a:r>
          </a:p>
          <a:p>
            <a:r>
              <a:rPr lang="el-GR" dirty="0"/>
              <a:t>       «</a:t>
            </a:r>
            <a:r>
              <a:rPr lang="en-US" dirty="0"/>
              <a:t>Management</a:t>
            </a:r>
            <a:r>
              <a:rPr lang="el-GR" dirty="0"/>
              <a:t>» και «</a:t>
            </a:r>
            <a:r>
              <a:rPr lang="en-US" dirty="0"/>
              <a:t>management</a:t>
            </a:r>
            <a:r>
              <a:rPr lang="el-GR" dirty="0"/>
              <a:t>» να είναι η ίδια λέξη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Αφαίρεση συμβόλων «@» και «#»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Αφαίρεση αριθμών και διατήρηση μόνο λατινικών χαρακτήρων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 err="1"/>
              <a:t>Κανονικοποίηση</a:t>
            </a:r>
            <a:r>
              <a:rPr lang="el-GR" dirty="0"/>
              <a:t> κενών 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E035B-BB32-4EAF-6DF4-F7F9D85A3646}"/>
              </a:ext>
            </a:extLst>
          </p:cNvPr>
          <p:cNvSpPr txBox="1"/>
          <p:nvPr/>
        </p:nvSpPr>
        <p:spPr>
          <a:xfrm>
            <a:off x="567070" y="2721795"/>
            <a:ext cx="1105785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Tokenization &amp; Lemmatization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Διαχωρισμός του κειμένου σε μεμονωμένες λέξεις με </a:t>
            </a:r>
            <a:r>
              <a:rPr lang="en-US" dirty="0"/>
              <a:t>NLTK Tokenizer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Αφαίρεση κοινών λέξεων χωρίς σημασία (</a:t>
            </a:r>
            <a:r>
              <a:rPr lang="en-US" dirty="0" err="1"/>
              <a:t>Stopwords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Αναγωγή των λέξεων στη ρίζα τους  με </a:t>
            </a:r>
            <a:r>
              <a:rPr lang="en-US" dirty="0"/>
              <a:t>WordNet </a:t>
            </a:r>
            <a:r>
              <a:rPr lang="en-US" dirty="0" err="1"/>
              <a:t>Lemmatizer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«</a:t>
            </a:r>
            <a:r>
              <a:rPr lang="en-US" dirty="0"/>
              <a:t>running</a:t>
            </a:r>
            <a:r>
              <a:rPr lang="el-GR" dirty="0"/>
              <a:t>» --&gt; «</a:t>
            </a:r>
            <a:r>
              <a:rPr lang="en-US" dirty="0"/>
              <a:t>run</a:t>
            </a:r>
            <a:r>
              <a:rPr lang="el-GR" dirty="0"/>
              <a:t>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Διατήρηση λέξεων με μήκος &gt;2 χαρακτήρων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F6ECF-62CC-8CD0-9588-2810EE875AA6}"/>
              </a:ext>
            </a:extLst>
          </p:cNvPr>
          <p:cNvSpPr txBox="1"/>
          <p:nvPr/>
        </p:nvSpPr>
        <p:spPr>
          <a:xfrm>
            <a:off x="584791" y="4610772"/>
            <a:ext cx="110578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Aspect &amp; Sentiment Labeling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Διαχωρισμός κριτικών σε μεμονωμένες προτάσεις ( </a:t>
            </a:r>
            <a:r>
              <a:rPr lang="en-US" dirty="0"/>
              <a:t>NLTK sentence tokenizer)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Έλεγχος πρότασης για αναφορά σε ένα από τα 6 </a:t>
            </a:r>
            <a:r>
              <a:rPr lang="en-US" dirty="0"/>
              <a:t>aspects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Προσδιορισμός συναισθημάτων με βάση την βαθμολογία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dirty="0"/>
              <a:t>Θετικό (4-5)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dirty="0"/>
              <a:t>Ουδέτερο (3)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dirty="0"/>
              <a:t>Αρνητικό (1-2)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41388C-9D4A-85AF-D3C5-BF5F453B5DAA}"/>
              </a:ext>
            </a:extLst>
          </p:cNvPr>
          <p:cNvSpPr txBox="1"/>
          <p:nvPr/>
        </p:nvSpPr>
        <p:spPr>
          <a:xfrm>
            <a:off x="7727241" y="847029"/>
            <a:ext cx="387996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rgbClr val="9E0000"/>
                </a:solidFill>
              </a:rPr>
              <a:t>Αποτέλεσμα</a:t>
            </a:r>
            <a:r>
              <a:rPr lang="el-GR" dirty="0"/>
              <a:t>: Δημιουργήθηκαν 1.56 εκατομμύρια προτάσεις με ετικέτες πτυχής και συναισθήματος</a:t>
            </a:r>
            <a:endParaRPr lang="en-US" dirty="0"/>
          </a:p>
        </p:txBody>
      </p:sp>
      <p:cxnSp>
        <p:nvCxnSpPr>
          <p:cNvPr id="16" name="Ευθεία γραμμή σύνδεσης 15">
            <a:extLst>
              <a:ext uri="{FF2B5EF4-FFF2-40B4-BE49-F238E27FC236}">
                <a16:creationId xmlns:a16="http://schemas.microsoft.com/office/drawing/2014/main" id="{9A56040C-52B4-A44A-CE36-A75F16277D30}"/>
              </a:ext>
            </a:extLst>
          </p:cNvPr>
          <p:cNvCxnSpPr>
            <a:cxnSpLocks/>
          </p:cNvCxnSpPr>
          <p:nvPr/>
        </p:nvCxnSpPr>
        <p:spPr>
          <a:xfrm>
            <a:off x="567070" y="832818"/>
            <a:ext cx="0" cy="1754326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Ευθεία γραμμή σύνδεσης 17">
            <a:extLst>
              <a:ext uri="{FF2B5EF4-FFF2-40B4-BE49-F238E27FC236}">
                <a16:creationId xmlns:a16="http://schemas.microsoft.com/office/drawing/2014/main" id="{3DF2C253-A79E-EF76-810A-D86F1322E50B}"/>
              </a:ext>
            </a:extLst>
          </p:cNvPr>
          <p:cNvCxnSpPr>
            <a:cxnSpLocks/>
          </p:cNvCxnSpPr>
          <p:nvPr/>
        </p:nvCxnSpPr>
        <p:spPr>
          <a:xfrm>
            <a:off x="567070" y="2752573"/>
            <a:ext cx="0" cy="17543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Ευθεία γραμμή σύνδεσης 18">
            <a:extLst>
              <a:ext uri="{FF2B5EF4-FFF2-40B4-BE49-F238E27FC236}">
                <a16:creationId xmlns:a16="http://schemas.microsoft.com/office/drawing/2014/main" id="{3BE94448-81B3-0884-368A-919AC3ED2054}"/>
              </a:ext>
            </a:extLst>
          </p:cNvPr>
          <p:cNvCxnSpPr>
            <a:cxnSpLocks/>
          </p:cNvCxnSpPr>
          <p:nvPr/>
        </p:nvCxnSpPr>
        <p:spPr>
          <a:xfrm>
            <a:off x="537240" y="4695673"/>
            <a:ext cx="0" cy="175432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56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6B7BE4-FC42-CA6A-D0FB-1D46C2D3A5D9}"/>
              </a:ext>
            </a:extLst>
          </p:cNvPr>
          <p:cNvSpPr txBox="1"/>
          <p:nvPr/>
        </p:nvSpPr>
        <p:spPr>
          <a:xfrm>
            <a:off x="584791" y="159488"/>
            <a:ext cx="4370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Algorithms </a:t>
            </a:r>
            <a:r>
              <a:rPr lang="el-GR" sz="2400" dirty="0"/>
              <a:t>&amp;</a:t>
            </a:r>
            <a:r>
              <a:rPr lang="en-US" sz="2400" dirty="0"/>
              <a:t> NLP Architectures 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A86C0948-77B6-A4EA-3EB1-DDDC5046802B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B8A0E8-4E63-875E-DA0D-C6DC28F76E9F}"/>
              </a:ext>
            </a:extLst>
          </p:cNvPr>
          <p:cNvSpPr txBox="1"/>
          <p:nvPr/>
        </p:nvSpPr>
        <p:spPr>
          <a:xfrm>
            <a:off x="495299" y="894808"/>
            <a:ext cx="1114735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/>
              <a:t>Επιλογή Μοντέλου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l-GR" dirty="0" err="1"/>
              <a:t>istilbert-base-uncased</a:t>
            </a:r>
            <a:endParaRPr lang="el-GR" dirty="0"/>
          </a:p>
          <a:p>
            <a:endParaRPr lang="el-GR" dirty="0"/>
          </a:p>
          <a:p>
            <a:r>
              <a:rPr lang="el-GR" dirty="0"/>
              <a:t>*Ένα ελαφρύ μοντέλο βασισμένο στην αρχιτεκτονική </a:t>
            </a:r>
            <a:r>
              <a:rPr lang="el-GR" dirty="0" err="1"/>
              <a:t>Transformer</a:t>
            </a:r>
            <a:r>
              <a:rPr lang="el-GR" dirty="0"/>
              <a:t>, το οποίο διατηρεί την απόδοση του BERT, ενώ είναι υπολογιστικά πιο αποδοτικό.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386E01-A162-688B-FD2B-34AC68ECF538}"/>
              </a:ext>
            </a:extLst>
          </p:cNvPr>
          <p:cNvSpPr txBox="1"/>
          <p:nvPr/>
        </p:nvSpPr>
        <p:spPr>
          <a:xfrm>
            <a:off x="495299" y="3656836"/>
            <a:ext cx="549116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Preparation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Μετατροπή κειμένου σε αριθμητικές ακολουθίες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Μέγιστο Μήκος -&gt;</a:t>
            </a:r>
            <a:r>
              <a:rPr lang="el-GR" dirty="0"/>
              <a:t> 80 </a:t>
            </a:r>
            <a:r>
              <a:rPr lang="en-US" dirty="0"/>
              <a:t>tokens (</a:t>
            </a:r>
            <a:r>
              <a:rPr lang="el-GR" dirty="0"/>
              <a:t>βελτιστοποίηση μνήμης)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Batch Processing</a:t>
            </a:r>
            <a:r>
              <a:rPr lang="el-GR" b="1" dirty="0"/>
              <a:t> -&gt;</a:t>
            </a:r>
            <a:r>
              <a:rPr lang="en-US" dirty="0"/>
              <a:t> </a:t>
            </a:r>
            <a:r>
              <a:rPr lang="el-GR" dirty="0"/>
              <a:t>Ομαδοποίηση σε </a:t>
            </a:r>
            <a:r>
              <a:rPr lang="en-US" dirty="0"/>
              <a:t>groups </a:t>
            </a:r>
            <a:r>
              <a:rPr lang="el-GR" dirty="0"/>
              <a:t>των 2000 προτάσεων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Padding</a:t>
            </a:r>
            <a:r>
              <a:rPr lang="el-GR" b="1" dirty="0"/>
              <a:t> -&gt;</a:t>
            </a:r>
            <a:r>
              <a:rPr lang="el-GR" dirty="0"/>
              <a:t>Συμπλήρωση με </a:t>
            </a:r>
            <a:r>
              <a:rPr lang="en-US" dirty="0"/>
              <a:t>zeros </a:t>
            </a:r>
            <a:r>
              <a:rPr lang="el-GR" dirty="0"/>
              <a:t>έως το μέγιστο μήκος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Truncation</a:t>
            </a:r>
            <a:r>
              <a:rPr lang="el-GR" b="1" dirty="0"/>
              <a:t> -&gt;</a:t>
            </a:r>
            <a:r>
              <a:rPr lang="el-GR" dirty="0"/>
              <a:t>Περικοπή μεγάλων προτάσεων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/>
              <a:t>Return Tensors</a:t>
            </a:r>
            <a:r>
              <a:rPr lang="el-GR" b="1" dirty="0"/>
              <a:t> -&gt;</a:t>
            </a:r>
            <a:r>
              <a:rPr lang="el-GR" dirty="0"/>
              <a:t>Επιστροφή </a:t>
            </a:r>
            <a:r>
              <a:rPr lang="en-US" dirty="0" err="1"/>
              <a:t>PyTorch</a:t>
            </a:r>
            <a:r>
              <a:rPr lang="en-US" dirty="0"/>
              <a:t> tensors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FB43C-F035-1854-4088-2FBC0DEC0654}"/>
              </a:ext>
            </a:extLst>
          </p:cNvPr>
          <p:cNvSpPr txBox="1"/>
          <p:nvPr/>
        </p:nvSpPr>
        <p:spPr>
          <a:xfrm>
            <a:off x="6205541" y="3656836"/>
            <a:ext cx="499903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 Loaders </a:t>
            </a:r>
            <a:r>
              <a:rPr lang="el-GR" sz="2000" b="1" dirty="0"/>
              <a:t>Ρυθμίσεις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Size training</a:t>
            </a:r>
            <a:r>
              <a:rPr lang="el-GR" dirty="0"/>
              <a:t> -&gt; 16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Size Validation</a:t>
            </a:r>
            <a:r>
              <a:rPr lang="el-GR" dirty="0"/>
              <a:t> -&gt;32 (ταχύτερη αξιολόγηση)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</a:t>
            </a:r>
            <a:r>
              <a:rPr lang="el-GR" dirty="0"/>
              <a:t> -&gt;</a:t>
            </a:r>
            <a:r>
              <a:rPr lang="en-US" dirty="0"/>
              <a:t> </a:t>
            </a:r>
            <a:r>
              <a:rPr lang="el-GR" dirty="0"/>
              <a:t>Μόνο για </a:t>
            </a:r>
            <a:r>
              <a:rPr lang="en-US" dirty="0"/>
              <a:t>training dataset</a:t>
            </a:r>
            <a:r>
              <a:rPr lang="el-GR" dirty="0"/>
              <a:t> σε κάθε εποχή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FC475-DEC4-013D-F963-572C871F6B67}"/>
              </a:ext>
            </a:extLst>
          </p:cNvPr>
          <p:cNvSpPr txBox="1"/>
          <p:nvPr/>
        </p:nvSpPr>
        <p:spPr>
          <a:xfrm>
            <a:off x="2535237" y="2402913"/>
            <a:ext cx="334962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l-GR" dirty="0"/>
              <a:t>40% μικρότερο από το </a:t>
            </a:r>
            <a:r>
              <a:rPr lang="en-US" dirty="0"/>
              <a:t>BERT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F09AB-5091-B8E0-C2E5-BE3B1A2086B9}"/>
              </a:ext>
            </a:extLst>
          </p:cNvPr>
          <p:cNvSpPr txBox="1"/>
          <p:nvPr/>
        </p:nvSpPr>
        <p:spPr>
          <a:xfrm>
            <a:off x="6307138" y="2402913"/>
            <a:ext cx="334962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l-GR" dirty="0"/>
              <a:t>60% γρηγορότερο από το BERT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569577-3E70-1935-7964-47BB64CDE832}"/>
              </a:ext>
            </a:extLst>
          </p:cNvPr>
          <p:cNvSpPr txBox="1"/>
          <p:nvPr/>
        </p:nvSpPr>
        <p:spPr>
          <a:xfrm>
            <a:off x="2535236" y="2910572"/>
            <a:ext cx="334962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l-GR" dirty="0"/>
              <a:t>Διατηρεί το 97% της απόδοσης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9809B0-BC97-910F-81F3-C749141D7460}"/>
              </a:ext>
            </a:extLst>
          </p:cNvPr>
          <p:cNvSpPr txBox="1"/>
          <p:nvPr/>
        </p:nvSpPr>
        <p:spPr>
          <a:xfrm>
            <a:off x="6307138" y="2910572"/>
            <a:ext cx="334962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l-GR" dirty="0"/>
              <a:t>Ιδανικό για μεγάλα </a:t>
            </a:r>
            <a:r>
              <a:rPr lang="el-GR" dirty="0" err="1"/>
              <a:t>datasets</a:t>
            </a:r>
            <a:endParaRPr lang="en-US" dirty="0"/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A06B3F13-920A-80DD-018A-BB8190B41367}"/>
              </a:ext>
            </a:extLst>
          </p:cNvPr>
          <p:cNvCxnSpPr>
            <a:cxnSpLocks/>
          </p:cNvCxnSpPr>
          <p:nvPr/>
        </p:nvCxnSpPr>
        <p:spPr>
          <a:xfrm>
            <a:off x="495299" y="894808"/>
            <a:ext cx="0" cy="1754326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Ευθεία γραμμή σύνδεσης 23">
            <a:extLst>
              <a:ext uri="{FF2B5EF4-FFF2-40B4-BE49-F238E27FC236}">
                <a16:creationId xmlns:a16="http://schemas.microsoft.com/office/drawing/2014/main" id="{F4909C73-8D42-157E-5021-B546B6173E68}"/>
              </a:ext>
            </a:extLst>
          </p:cNvPr>
          <p:cNvCxnSpPr>
            <a:cxnSpLocks/>
          </p:cNvCxnSpPr>
          <p:nvPr/>
        </p:nvCxnSpPr>
        <p:spPr>
          <a:xfrm>
            <a:off x="495299" y="3656836"/>
            <a:ext cx="0" cy="17543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Ευθεία γραμμή σύνδεσης 24">
            <a:extLst>
              <a:ext uri="{FF2B5EF4-FFF2-40B4-BE49-F238E27FC236}">
                <a16:creationId xmlns:a16="http://schemas.microsoft.com/office/drawing/2014/main" id="{82DF1B70-4ED7-2218-B80F-AA36B480E2FF}"/>
              </a:ext>
            </a:extLst>
          </p:cNvPr>
          <p:cNvCxnSpPr>
            <a:cxnSpLocks/>
          </p:cNvCxnSpPr>
          <p:nvPr/>
        </p:nvCxnSpPr>
        <p:spPr>
          <a:xfrm>
            <a:off x="6196681" y="3656836"/>
            <a:ext cx="0" cy="175432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A84B8-BEEC-7E93-0731-A64852EC1C94}"/>
              </a:ext>
            </a:extLst>
          </p:cNvPr>
          <p:cNvSpPr txBox="1"/>
          <p:nvPr/>
        </p:nvSpPr>
        <p:spPr>
          <a:xfrm>
            <a:off x="584791" y="159488"/>
            <a:ext cx="4370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Algorithms </a:t>
            </a:r>
            <a:r>
              <a:rPr lang="el-GR" sz="2400" dirty="0"/>
              <a:t>&amp;</a:t>
            </a:r>
            <a:r>
              <a:rPr lang="en-US" sz="2400" dirty="0"/>
              <a:t> NLP Architectures 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D5A16A0-F8D1-B2EE-5A6E-517F4F0E6314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8EE9ED-2355-B737-AE4F-A01D0581D298}"/>
              </a:ext>
            </a:extLst>
          </p:cNvPr>
          <p:cNvSpPr txBox="1"/>
          <p:nvPr/>
        </p:nvSpPr>
        <p:spPr>
          <a:xfrm>
            <a:off x="1196338" y="1136257"/>
            <a:ext cx="1044631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Το μοντέλο βελτιστοποιήθηκε με </a:t>
            </a:r>
            <a:r>
              <a:rPr lang="en-US" dirty="0" err="1"/>
              <a:t>AdamW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Learning rate 2e-5 – </a:t>
            </a:r>
            <a:r>
              <a:rPr lang="el-GR" dirty="0"/>
              <a:t>μικρό για να επιτραπούν οι ενημερώσεις στα προ εκπαιδευμένα βάρη του μοντέλου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Εφαρμόστηκε </a:t>
            </a:r>
            <a:r>
              <a:rPr lang="en-US" dirty="0"/>
              <a:t>Cross-Entropy Loss</a:t>
            </a:r>
            <a:r>
              <a:rPr lang="el-GR" dirty="0"/>
              <a:t> για τις 3 κατηγορίες συναισθημάτων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Εκπαίδευση για 5 εποχές με </a:t>
            </a:r>
            <a:r>
              <a:rPr lang="en-US" dirty="0"/>
              <a:t>early stopping (patience=2)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Υπολογισμός μετρικών -&gt; </a:t>
            </a:r>
            <a:r>
              <a:rPr lang="en-US" dirty="0"/>
              <a:t>Precision, Recall, F1-score, Accuracy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Αποθήκευση του καλύτερου μοντέλου με βάση το </a:t>
            </a:r>
            <a:r>
              <a:rPr lang="en-US" dirty="0"/>
              <a:t>F1-score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Αναπτύχθηκε </a:t>
            </a:r>
            <a:r>
              <a:rPr lang="en-US" dirty="0"/>
              <a:t>inference pipeline</a:t>
            </a:r>
            <a:r>
              <a:rPr lang="el-GR" dirty="0"/>
              <a:t> για ανάλυση νέων κριτικών και εξαγωγή </a:t>
            </a:r>
            <a:r>
              <a:rPr lang="el-GR" dirty="0" err="1"/>
              <a:t>insights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A8F9E-5539-39D8-3C32-1256F80D800C}"/>
              </a:ext>
            </a:extLst>
          </p:cNvPr>
          <p:cNvSpPr txBox="1"/>
          <p:nvPr/>
        </p:nvSpPr>
        <p:spPr>
          <a:xfrm>
            <a:off x="1198878" y="4453236"/>
            <a:ext cx="48971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Restriction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Για την ολοκλήρωση του </a:t>
            </a:r>
            <a:r>
              <a:rPr lang="en-US" dirty="0"/>
              <a:t>training </a:t>
            </a:r>
            <a:r>
              <a:rPr lang="el-GR" dirty="0"/>
              <a:t>χρειαζόντουσαν 50</a:t>
            </a:r>
            <a:r>
              <a:rPr lang="en-US" dirty="0"/>
              <a:t>h / </a:t>
            </a:r>
            <a:r>
              <a:rPr lang="el-GR" dirty="0"/>
              <a:t>εποχή σε </a:t>
            </a:r>
            <a:r>
              <a:rPr lang="en-US" dirty="0"/>
              <a:t>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Αδυναμία χρήσης </a:t>
            </a:r>
            <a:r>
              <a:rPr lang="en-US" dirty="0"/>
              <a:t>Hugging Face Trainer API</a:t>
            </a:r>
            <a:r>
              <a:rPr lang="el-GR" dirty="0"/>
              <a:t> λόγω περιορισμού στη μνήμη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Περιορισμένος χρόνος χρήσης </a:t>
            </a:r>
            <a:r>
              <a:rPr lang="en-US" dirty="0"/>
              <a:t>GPU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962890-3466-BD77-4BDD-C2685EC5EE64}"/>
              </a:ext>
            </a:extLst>
          </p:cNvPr>
          <p:cNvSpPr txBox="1"/>
          <p:nvPr/>
        </p:nvSpPr>
        <p:spPr>
          <a:xfrm>
            <a:off x="6745529" y="4453236"/>
            <a:ext cx="489712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Solutions</a:t>
            </a:r>
            <a:endParaRPr lang="el-G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Δημιουργία </a:t>
            </a:r>
            <a:r>
              <a:rPr lang="en-US" dirty="0"/>
              <a:t>Custom Training Loop </a:t>
            </a:r>
            <a:r>
              <a:rPr lang="el-GR" dirty="0"/>
              <a:t>για τον έλεγχο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Η εκπαίδευση έγινε σε δείγμα του αρχικού </a:t>
            </a:r>
            <a:r>
              <a:rPr lang="en-US" dirty="0"/>
              <a:t>dataset </a:t>
            </a:r>
            <a:endParaRPr lang="en-US" sz="1800" dirty="0"/>
          </a:p>
        </p:txBody>
      </p:sp>
      <p:cxnSp>
        <p:nvCxnSpPr>
          <p:cNvPr id="15" name="Ευθεία γραμμή σύνδεσης 14">
            <a:extLst>
              <a:ext uri="{FF2B5EF4-FFF2-40B4-BE49-F238E27FC236}">
                <a16:creationId xmlns:a16="http://schemas.microsoft.com/office/drawing/2014/main" id="{5603B9D4-1F98-030B-B63C-8C1B6DC5E6E3}"/>
              </a:ext>
            </a:extLst>
          </p:cNvPr>
          <p:cNvCxnSpPr>
            <a:cxnSpLocks/>
          </p:cNvCxnSpPr>
          <p:nvPr/>
        </p:nvCxnSpPr>
        <p:spPr>
          <a:xfrm>
            <a:off x="1078910" y="4453236"/>
            <a:ext cx="0" cy="1754326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Ευθεία γραμμή σύνδεσης 15">
            <a:extLst>
              <a:ext uri="{FF2B5EF4-FFF2-40B4-BE49-F238E27FC236}">
                <a16:creationId xmlns:a16="http://schemas.microsoft.com/office/drawing/2014/main" id="{F7135EFF-B845-85A4-075C-12BCF951F0D6}"/>
              </a:ext>
            </a:extLst>
          </p:cNvPr>
          <p:cNvCxnSpPr>
            <a:cxnSpLocks/>
          </p:cNvCxnSpPr>
          <p:nvPr/>
        </p:nvCxnSpPr>
        <p:spPr>
          <a:xfrm>
            <a:off x="6679610" y="4471314"/>
            <a:ext cx="0" cy="17543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354632E1-EC3C-D34F-9869-F15FB3DEA6BB}"/>
              </a:ext>
            </a:extLst>
          </p:cNvPr>
          <p:cNvCxnSpPr>
            <a:cxnSpLocks/>
          </p:cNvCxnSpPr>
          <p:nvPr/>
        </p:nvCxnSpPr>
        <p:spPr>
          <a:xfrm>
            <a:off x="1083340" y="1147109"/>
            <a:ext cx="0" cy="288224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02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F688D-1C73-B30D-1DDA-42E60FBD589B}"/>
              </a:ext>
            </a:extLst>
          </p:cNvPr>
          <p:cNvSpPr txBox="1"/>
          <p:nvPr/>
        </p:nvSpPr>
        <p:spPr>
          <a:xfrm>
            <a:off x="584791" y="159488"/>
            <a:ext cx="4270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Results &amp; Performance Metrics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13663FC7-B251-9E4B-DBC1-E2F25561A94E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Πίνακας 5">
            <a:extLst>
              <a:ext uri="{FF2B5EF4-FFF2-40B4-BE49-F238E27FC236}">
                <a16:creationId xmlns:a16="http://schemas.microsoft.com/office/drawing/2014/main" id="{47513523-8AC4-33A9-DD7A-71B8F5113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841397"/>
              </p:ext>
            </p:extLst>
          </p:nvPr>
        </p:nvGraphicFramePr>
        <p:xfrm>
          <a:off x="753139" y="1323511"/>
          <a:ext cx="10515599" cy="222351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87204">
                  <a:extLst>
                    <a:ext uri="{9D8B030D-6E8A-4147-A177-3AD203B41FA5}">
                      <a16:colId xmlns:a16="http://schemas.microsoft.com/office/drawing/2014/main" val="1025154767"/>
                    </a:ext>
                  </a:extLst>
                </a:gridCol>
                <a:gridCol w="1765679">
                  <a:extLst>
                    <a:ext uri="{9D8B030D-6E8A-4147-A177-3AD203B41FA5}">
                      <a16:colId xmlns:a16="http://schemas.microsoft.com/office/drawing/2014/main" val="1012170616"/>
                    </a:ext>
                  </a:extLst>
                </a:gridCol>
                <a:gridCol w="1765679">
                  <a:extLst>
                    <a:ext uri="{9D8B030D-6E8A-4147-A177-3AD203B41FA5}">
                      <a16:colId xmlns:a16="http://schemas.microsoft.com/office/drawing/2014/main" val="448218141"/>
                    </a:ext>
                  </a:extLst>
                </a:gridCol>
                <a:gridCol w="1765679">
                  <a:extLst>
                    <a:ext uri="{9D8B030D-6E8A-4147-A177-3AD203B41FA5}">
                      <a16:colId xmlns:a16="http://schemas.microsoft.com/office/drawing/2014/main" val="1784982905"/>
                    </a:ext>
                  </a:extLst>
                </a:gridCol>
                <a:gridCol w="1765679">
                  <a:extLst>
                    <a:ext uri="{9D8B030D-6E8A-4147-A177-3AD203B41FA5}">
                      <a16:colId xmlns:a16="http://schemas.microsoft.com/office/drawing/2014/main" val="1755393959"/>
                    </a:ext>
                  </a:extLst>
                </a:gridCol>
                <a:gridCol w="1765679">
                  <a:extLst>
                    <a:ext uri="{9D8B030D-6E8A-4147-A177-3AD203B41FA5}">
                      <a16:colId xmlns:a16="http://schemas.microsoft.com/office/drawing/2014/main" val="245256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l-GR" b="1" dirty="0">
                          <a:effectLst/>
                        </a:rPr>
                        <a:t>Εποχή</a:t>
                      </a:r>
                      <a:endParaRPr lang="el-GR" b="1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Train Accuracy</a:t>
                      </a:r>
                      <a:endParaRPr lang="en-US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Train F1</a:t>
                      </a:r>
                      <a:endParaRPr lang="en-US" b="1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Val Accuracy</a:t>
                      </a:r>
                      <a:endParaRPr lang="en-US" b="1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Val F1</a:t>
                      </a:r>
                      <a:endParaRPr lang="en-US" b="1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l-GR" b="1" dirty="0">
                          <a:effectLst/>
                        </a:rPr>
                        <a:t>Κατάσταση</a:t>
                      </a:r>
                      <a:endParaRPr lang="el-GR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2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58.8%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0.510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59.0%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0.502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l-GR" b="0" dirty="0">
                          <a:effectLst/>
                        </a:rPr>
                        <a:t>Βελτίωση 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77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2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62.6%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0.553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58.5%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0.517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l-GR" b="0" dirty="0">
                          <a:effectLst/>
                        </a:rPr>
                        <a:t>Βελτίωση 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96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solidFill>
                            <a:srgbClr val="9E0000"/>
                          </a:solidFill>
                          <a:effectLst/>
                        </a:rPr>
                        <a:t>3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E0000"/>
                          </a:solidFill>
                          <a:effectLst/>
                        </a:rPr>
                        <a:t>67.0%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E0000"/>
                          </a:solidFill>
                          <a:effectLst/>
                        </a:rPr>
                        <a:t>0.634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E0000"/>
                          </a:solidFill>
                          <a:effectLst/>
                        </a:rPr>
                        <a:t>56.0%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rgbClr val="9E0000"/>
                          </a:solidFill>
                          <a:effectLst/>
                        </a:rPr>
                        <a:t>0.566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l-GR" b="0" dirty="0">
                          <a:solidFill>
                            <a:srgbClr val="9E0000"/>
                          </a:solidFill>
                          <a:effectLst/>
                        </a:rPr>
                        <a:t>Βελτίωση </a:t>
                      </a:r>
                      <a:endParaRPr lang="en-US" b="0" dirty="0">
                        <a:solidFill>
                          <a:srgbClr val="9E0000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55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73.1%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0.719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55.8%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0.551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l-GR" b="0" dirty="0">
                          <a:effectLst/>
                        </a:rPr>
                        <a:t>Χαμηλότερο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22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</a:rPr>
                        <a:t>5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80.7%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0.804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55.4%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0.559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l-GR" b="0" dirty="0">
                          <a:effectLst/>
                        </a:rPr>
                        <a:t>Χαμηλότερο 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513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BA419C-A940-2204-C55D-9089BA1341BD}"/>
              </a:ext>
            </a:extLst>
          </p:cNvPr>
          <p:cNvSpPr txBox="1"/>
          <p:nvPr/>
        </p:nvSpPr>
        <p:spPr>
          <a:xfrm>
            <a:off x="700382" y="3599018"/>
            <a:ext cx="54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* Το </a:t>
            </a:r>
            <a:r>
              <a:rPr lang="en-US" dirty="0"/>
              <a:t>early stopping </a:t>
            </a:r>
            <a:r>
              <a:rPr lang="el-GR" dirty="0"/>
              <a:t>ενεργοποιήθηκε μετά την 5</a:t>
            </a:r>
            <a:r>
              <a:rPr lang="el-GR" baseline="30000" dirty="0"/>
              <a:t>η</a:t>
            </a:r>
            <a:r>
              <a:rPr lang="el-GR" dirty="0"/>
              <a:t> εποχή </a:t>
            </a:r>
            <a:endParaRPr lang="en-US" dirty="0"/>
          </a:p>
        </p:txBody>
      </p:sp>
      <p:sp>
        <p:nvSpPr>
          <p:cNvPr id="12" name="Ορθογώνιο 11">
            <a:extLst>
              <a:ext uri="{FF2B5EF4-FFF2-40B4-BE49-F238E27FC236}">
                <a16:creationId xmlns:a16="http://schemas.microsoft.com/office/drawing/2014/main" id="{ED23B8E1-B50C-6332-1824-EF4D23C2197E}"/>
              </a:ext>
            </a:extLst>
          </p:cNvPr>
          <p:cNvSpPr/>
          <p:nvPr/>
        </p:nvSpPr>
        <p:spPr>
          <a:xfrm>
            <a:off x="10504967" y="6539021"/>
            <a:ext cx="1137684" cy="27644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E4E593-63C2-DF18-CEB4-785472118179}"/>
              </a:ext>
            </a:extLst>
          </p:cNvPr>
          <p:cNvSpPr txBox="1"/>
          <p:nvPr/>
        </p:nvSpPr>
        <p:spPr>
          <a:xfrm>
            <a:off x="1440939" y="4672231"/>
            <a:ext cx="39031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Performance</a:t>
            </a:r>
            <a:endParaRPr lang="el-G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Σταθερή μεταξύ </a:t>
            </a:r>
            <a:r>
              <a:rPr lang="en-US" dirty="0"/>
              <a:t>validation </a:t>
            </a:r>
            <a:r>
              <a:rPr lang="el-GR" dirty="0"/>
              <a:t>και </a:t>
            </a:r>
            <a:r>
              <a:rPr lang="en-US" dirty="0"/>
              <a:t>test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dirty="0"/>
              <a:t>Καλή γενίκευση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4A6D5-F79F-C12D-FC97-0906881BAFF0}"/>
              </a:ext>
            </a:extLst>
          </p:cNvPr>
          <p:cNvSpPr txBox="1"/>
          <p:nvPr/>
        </p:nvSpPr>
        <p:spPr>
          <a:xfrm>
            <a:off x="8661193" y="4672231"/>
            <a:ext cx="184377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Limitation</a:t>
            </a:r>
            <a:r>
              <a:rPr lang="el-GR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Μικρό δείγμα </a:t>
            </a:r>
            <a:endParaRPr lang="en-US" dirty="0"/>
          </a:p>
        </p:txBody>
      </p:sp>
      <p:cxnSp>
        <p:nvCxnSpPr>
          <p:cNvPr id="20" name="Ευθεία γραμμή σύνδεσης 19">
            <a:extLst>
              <a:ext uri="{FF2B5EF4-FFF2-40B4-BE49-F238E27FC236}">
                <a16:creationId xmlns:a16="http://schemas.microsoft.com/office/drawing/2014/main" id="{703C2B04-BA1D-7DB3-6A67-81468B88EAFC}"/>
              </a:ext>
            </a:extLst>
          </p:cNvPr>
          <p:cNvCxnSpPr>
            <a:cxnSpLocks/>
          </p:cNvCxnSpPr>
          <p:nvPr/>
        </p:nvCxnSpPr>
        <p:spPr>
          <a:xfrm>
            <a:off x="8661193" y="4446816"/>
            <a:ext cx="0" cy="1200788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Ευθεία γραμμή σύνδεσης 20">
            <a:extLst>
              <a:ext uri="{FF2B5EF4-FFF2-40B4-BE49-F238E27FC236}">
                <a16:creationId xmlns:a16="http://schemas.microsoft.com/office/drawing/2014/main" id="{EC744A11-48F8-D9AC-D772-B140F44F7704}"/>
              </a:ext>
            </a:extLst>
          </p:cNvPr>
          <p:cNvCxnSpPr>
            <a:cxnSpLocks/>
          </p:cNvCxnSpPr>
          <p:nvPr/>
        </p:nvCxnSpPr>
        <p:spPr>
          <a:xfrm>
            <a:off x="1377867" y="4446816"/>
            <a:ext cx="0" cy="12007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65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88DC7C-678A-B016-0DC4-B8EE009C907F}"/>
              </a:ext>
            </a:extLst>
          </p:cNvPr>
          <p:cNvSpPr txBox="1"/>
          <p:nvPr/>
        </p:nvSpPr>
        <p:spPr>
          <a:xfrm>
            <a:off x="584791" y="159488"/>
            <a:ext cx="297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Sentiment Prediction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9B193E1-4713-F124-8C64-7502342AE2DF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D2D8ABDB-A15A-B054-A5E4-E0B440B2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25" y="803603"/>
            <a:ext cx="4667693" cy="4306186"/>
          </a:xfrm>
          <a:prstGeom prst="rect">
            <a:avLst/>
          </a:prstGeom>
          <a:ln w="19050">
            <a:solidFill>
              <a:srgbClr val="9E0000"/>
            </a:solidFill>
          </a:ln>
        </p:spPr>
      </p:pic>
      <p:graphicFrame>
        <p:nvGraphicFramePr>
          <p:cNvPr id="9" name="Πίνακας 8">
            <a:extLst>
              <a:ext uri="{FF2B5EF4-FFF2-40B4-BE49-F238E27FC236}">
                <a16:creationId xmlns:a16="http://schemas.microsoft.com/office/drawing/2014/main" id="{5AE660E4-878C-B9B0-E62F-B178C3540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267397"/>
              </p:ext>
            </p:extLst>
          </p:nvPr>
        </p:nvGraphicFramePr>
        <p:xfrm>
          <a:off x="342214" y="5205482"/>
          <a:ext cx="11714704" cy="153797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571107">
                  <a:extLst>
                    <a:ext uri="{9D8B030D-6E8A-4147-A177-3AD203B41FA5}">
                      <a16:colId xmlns:a16="http://schemas.microsoft.com/office/drawing/2014/main" val="3188900670"/>
                    </a:ext>
                  </a:extLst>
                </a:gridCol>
                <a:gridCol w="1509823">
                  <a:extLst>
                    <a:ext uri="{9D8B030D-6E8A-4147-A177-3AD203B41FA5}">
                      <a16:colId xmlns:a16="http://schemas.microsoft.com/office/drawing/2014/main" val="3630250943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833519468"/>
                    </a:ext>
                  </a:extLst>
                </a:gridCol>
                <a:gridCol w="2156415">
                  <a:extLst>
                    <a:ext uri="{9D8B030D-6E8A-4147-A177-3AD203B41FA5}">
                      <a16:colId xmlns:a16="http://schemas.microsoft.com/office/drawing/2014/main" val="808038517"/>
                    </a:ext>
                  </a:extLst>
                </a:gridCol>
                <a:gridCol w="4010066">
                  <a:extLst>
                    <a:ext uri="{9D8B030D-6E8A-4147-A177-3AD203B41FA5}">
                      <a16:colId xmlns:a16="http://schemas.microsoft.com/office/drawing/2014/main" val="1438134568"/>
                    </a:ext>
                  </a:extLst>
                </a:gridCol>
              </a:tblGrid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Aspect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 Positive (%)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Negative (%)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Neutral (%)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Recommendation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76892787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Carrer Opportunities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56,5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21,9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21,6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Mixed feedback -&gt; Monitor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753148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Compensation &amp; Benefits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49,8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27,9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22,3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Mixed feedback -&gt; Monitor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73649367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Culture &amp; Values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60,8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20,1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19,1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Strong points -&gt; Continue investing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4349322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Diversity &amp; Inclusion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61,7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19,2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19,1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Strong points -&gt; Continue investing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6785784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Senior Management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28,0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44,0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28,0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High negatives -&gt; Immediate action needed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2597316"/>
                  </a:ext>
                </a:extLst>
              </a:tr>
              <a:tr h="2132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Work-Life Balance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53,5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25,8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20,7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Mixed feedback -&gt; Monitor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67762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E69CF11-6464-37AA-CB32-0FE12C7D11C9}"/>
              </a:ext>
            </a:extLst>
          </p:cNvPr>
          <p:cNvSpPr txBox="1"/>
          <p:nvPr/>
        </p:nvSpPr>
        <p:spPr>
          <a:xfrm>
            <a:off x="961844" y="1159544"/>
            <a:ext cx="60977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Sentiment Analysis by Aspect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Εφαρμόστηκε </a:t>
            </a:r>
            <a:r>
              <a:rPr lang="en-US" dirty="0"/>
              <a:t>fine-tuned BERT </a:t>
            </a:r>
            <a:r>
              <a:rPr lang="el-GR" dirty="0"/>
              <a:t>σε 20.000 προτάσεις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Πρόβλεψε συναισθήματος για κάθε </a:t>
            </a:r>
            <a:r>
              <a:rPr lang="en-US" dirty="0"/>
              <a:t>aspect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E79A4-75C9-DA56-8C81-2C6E411511D5}"/>
              </a:ext>
            </a:extLst>
          </p:cNvPr>
          <p:cNvSpPr txBox="1"/>
          <p:nvPr/>
        </p:nvSpPr>
        <p:spPr>
          <a:xfrm>
            <a:off x="961844" y="2905514"/>
            <a:ext cx="609777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Finding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Culture &amp; Diversity </a:t>
            </a:r>
            <a:r>
              <a:rPr lang="el-GR" dirty="0"/>
              <a:t>έχουν &gt;60 % θετικά σχόλια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Senior Management </a:t>
            </a:r>
            <a:r>
              <a:rPr lang="el-GR" dirty="0"/>
              <a:t>έχει 44 % αρνητικά σχόλια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dirty="0"/>
              <a:t>Ανάγκη για βελτίωση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Benefits &amp; Work-Life Balance </a:t>
            </a:r>
            <a:r>
              <a:rPr lang="el-GR" dirty="0"/>
              <a:t>Παρουσιάζουν μικτή εικόνα </a:t>
            </a:r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2ADCFAAC-2330-7E50-0D98-484F20983F71}"/>
              </a:ext>
            </a:extLst>
          </p:cNvPr>
          <p:cNvCxnSpPr>
            <a:cxnSpLocks/>
          </p:cNvCxnSpPr>
          <p:nvPr/>
        </p:nvCxnSpPr>
        <p:spPr>
          <a:xfrm>
            <a:off x="824547" y="2792314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Ευθεία γραμμή σύνδεσης 14">
            <a:extLst>
              <a:ext uri="{FF2B5EF4-FFF2-40B4-BE49-F238E27FC236}">
                <a16:creationId xmlns:a16="http://schemas.microsoft.com/office/drawing/2014/main" id="{AE7F1B46-37C4-5052-7E4F-81B6A8BC6AC9}"/>
              </a:ext>
            </a:extLst>
          </p:cNvPr>
          <p:cNvCxnSpPr>
            <a:cxnSpLocks/>
          </p:cNvCxnSpPr>
          <p:nvPr/>
        </p:nvCxnSpPr>
        <p:spPr>
          <a:xfrm>
            <a:off x="824547" y="803603"/>
            <a:ext cx="0" cy="1671010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88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4185C-A486-5EA9-D622-F7AB650E3FCE}"/>
              </a:ext>
            </a:extLst>
          </p:cNvPr>
          <p:cNvSpPr txBox="1"/>
          <p:nvPr/>
        </p:nvSpPr>
        <p:spPr>
          <a:xfrm>
            <a:off x="584791" y="159488"/>
            <a:ext cx="4441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Sentiment Consistency Analysis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989787A3-3F41-1684-78E5-44B7DB8818AC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1AE0C3E7-2C30-6A88-C468-560B4474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1591485"/>
            <a:ext cx="4977673" cy="40271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417289-845C-2C7E-4B0B-347EAFDC2572}"/>
              </a:ext>
            </a:extLst>
          </p:cNvPr>
          <p:cNvSpPr txBox="1"/>
          <p:nvPr/>
        </p:nvSpPr>
        <p:spPr>
          <a:xfrm>
            <a:off x="602623" y="1591484"/>
            <a:ext cx="6097772" cy="1477328"/>
          </a:xfrm>
          <a:prstGeom prst="rect">
            <a:avLst/>
          </a:prstGeom>
          <a:noFill/>
          <a:ln w="19050">
            <a:solidFill>
              <a:srgbClr val="9E0000"/>
            </a:solidFill>
          </a:ln>
        </p:spPr>
        <p:txBody>
          <a:bodyPr wrap="square" rtlCol="0">
            <a:spAutoFit/>
          </a:bodyPr>
          <a:lstStyle/>
          <a:p>
            <a:r>
              <a:rPr lang="el-GR" dirty="0"/>
              <a:t>Έλεγχος συνέπειας μεταξύ των αριθμητικών αξιολογήσεων (</a:t>
            </a:r>
            <a:r>
              <a:rPr lang="en-US" dirty="0"/>
              <a:t>ratings 1-5) </a:t>
            </a:r>
            <a:r>
              <a:rPr lang="el-GR" dirty="0"/>
              <a:t>και του συναισθήματος βάση του κειμένου. Η ανάλυση αποκαλύπτει πόσο καλά οι αξιολογήσεις των εργαζόμενων ευθυγραμμίζονται με το συναίσθημα που εκφράζεται στο κείμενο.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54E2D-2428-8A9B-6766-C9D1C1211971}"/>
              </a:ext>
            </a:extLst>
          </p:cNvPr>
          <p:cNvSpPr txBox="1"/>
          <p:nvPr/>
        </p:nvSpPr>
        <p:spPr>
          <a:xfrm>
            <a:off x="602623" y="3213905"/>
            <a:ext cx="6097772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l-GR" dirty="0"/>
              <a:t>Για την ανάλυση συναισθήματος του κειμένου χρησιμοποιήθηκε το </a:t>
            </a:r>
            <a:r>
              <a:rPr lang="en-US" dirty="0" err="1"/>
              <a:t>TextBlob</a:t>
            </a:r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9A4FA-88C7-191A-77AE-2450D16A7A11}"/>
              </a:ext>
            </a:extLst>
          </p:cNvPr>
          <p:cNvSpPr txBox="1"/>
          <p:nvPr/>
        </p:nvSpPr>
        <p:spPr>
          <a:xfrm>
            <a:off x="723646" y="4128440"/>
            <a:ext cx="596309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Finding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Συνέπεια -&gt; 61%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Οι μεγαλύτερες αποκλίσεις παρατηρήθηκαν σε ουδέτερες ή περίπλοκες γνώμες  </a:t>
            </a:r>
          </a:p>
        </p:txBody>
      </p: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99D54D63-2D97-F5C6-5885-EA279642E907}"/>
              </a:ext>
            </a:extLst>
          </p:cNvPr>
          <p:cNvCxnSpPr>
            <a:cxnSpLocks/>
          </p:cNvCxnSpPr>
          <p:nvPr/>
        </p:nvCxnSpPr>
        <p:spPr>
          <a:xfrm>
            <a:off x="587272" y="4005329"/>
            <a:ext cx="12736" cy="1477328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14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5CA7EC-CFBA-3572-875B-D3D61938B249}"/>
              </a:ext>
            </a:extLst>
          </p:cNvPr>
          <p:cNvSpPr txBox="1"/>
          <p:nvPr/>
        </p:nvSpPr>
        <p:spPr>
          <a:xfrm>
            <a:off x="584791" y="159488"/>
            <a:ext cx="2796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 Trend Analysis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246B4C67-9064-D45E-3DA1-CFEE41D950FB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D5D6EF-FD2A-9DA3-1657-AD85A86125C0}"/>
              </a:ext>
            </a:extLst>
          </p:cNvPr>
          <p:cNvSpPr txBox="1"/>
          <p:nvPr/>
        </p:nvSpPr>
        <p:spPr>
          <a:xfrm>
            <a:off x="584792" y="978920"/>
            <a:ext cx="11057860" cy="923330"/>
          </a:xfrm>
          <a:prstGeom prst="rect">
            <a:avLst/>
          </a:prstGeom>
          <a:noFill/>
          <a:ln w="19050">
            <a:solidFill>
              <a:srgbClr val="9E0000"/>
            </a:solidFill>
          </a:ln>
        </p:spPr>
        <p:txBody>
          <a:bodyPr wrap="square" rtlCol="0">
            <a:spAutoFit/>
          </a:bodyPr>
          <a:lstStyle/>
          <a:p>
            <a:r>
              <a:rPr lang="el-GR" dirty="0"/>
              <a:t>Για την καλύτερη κατανόηση της εξέλιξης της γνώμης των εργαζομένων, πραγματοποιήθηκε ανάλυση με βάση τις ημερομηνίες των αξιολογήσεων. Κάθε κριτική αντιστοιχήθηκε ανά  έτος και μήνα και ομαδοποιήθηκε ανά </a:t>
            </a:r>
            <a:r>
              <a:rPr lang="en-US" dirty="0"/>
              <a:t>aspect </a:t>
            </a:r>
            <a:r>
              <a:rPr lang="el-GR" dirty="0"/>
              <a:t>και κατηγορία συναισθήματος.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4A13F-0EC0-56C6-CF35-C72AC20CF22B}"/>
              </a:ext>
            </a:extLst>
          </p:cNvPr>
          <p:cNvSpPr txBox="1"/>
          <p:nvPr/>
        </p:nvSpPr>
        <p:spPr>
          <a:xfrm>
            <a:off x="584791" y="2536447"/>
            <a:ext cx="321718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Career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Αύξηση θετικών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Μείωση αρνητικής γνώμης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Βελτίωση στις προοπτικές καριέρας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9EA08-EA49-AE6D-4A8C-71810788B684}"/>
              </a:ext>
            </a:extLst>
          </p:cNvPr>
          <p:cNvSpPr txBox="1"/>
          <p:nvPr/>
        </p:nvSpPr>
        <p:spPr>
          <a:xfrm>
            <a:off x="4463771" y="2536448"/>
            <a:ext cx="321718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Compensation &amp;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Μικρή αύξηση θετικών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Σταθερά επίπεδα αρνητικής και ουδέτερης γνώμης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Χρειάζεται προσοχή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C8772-6123-7723-6A06-4C6BC3C41624}"/>
              </a:ext>
            </a:extLst>
          </p:cNvPr>
          <p:cNvSpPr txBox="1"/>
          <p:nvPr/>
        </p:nvSpPr>
        <p:spPr>
          <a:xfrm>
            <a:off x="8342752" y="2536447"/>
            <a:ext cx="321718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Υψηλά ποσοστά θετικών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Δυνατό σημείο οργάνωσης 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AE84A5-7391-5BFC-BE64-6AA215542310}"/>
              </a:ext>
            </a:extLst>
          </p:cNvPr>
          <p:cNvSpPr txBox="1"/>
          <p:nvPr/>
        </p:nvSpPr>
        <p:spPr>
          <a:xfrm>
            <a:off x="584791" y="4647974"/>
            <a:ext cx="321718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Culture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Υψηλά ποσοστά θετικών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Δυνατό σημείο οργάνωσης 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E29A3-C657-AC74-6804-1641E53B0D0F}"/>
              </a:ext>
            </a:extLst>
          </p:cNvPr>
          <p:cNvSpPr txBox="1"/>
          <p:nvPr/>
        </p:nvSpPr>
        <p:spPr>
          <a:xfrm>
            <a:off x="4463771" y="4647974"/>
            <a:ext cx="32171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Work-Life Balance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Εναλλαγή θετικών και αρνητικών σχολίων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Αύξηση θετικών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Ευαίσθητος τομέας, χρειάζεται συνεχή παρακολούθηση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4FE164-954D-A12F-D38D-4066F35619E0}"/>
              </a:ext>
            </a:extLst>
          </p:cNvPr>
          <p:cNvSpPr txBox="1"/>
          <p:nvPr/>
        </p:nvSpPr>
        <p:spPr>
          <a:xfrm>
            <a:off x="8342751" y="4647974"/>
            <a:ext cx="32171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Senior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Εναλλαγή θετικών και αρνητικών σχολίων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Αύξηση αρνητικών σχολίων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Ευαίσθητος τομέας, χρειάζεται συνεχή παρακολούθηση </a:t>
            </a:r>
            <a:endParaRPr lang="en-US" dirty="0"/>
          </a:p>
        </p:txBody>
      </p:sp>
      <p:cxnSp>
        <p:nvCxnSpPr>
          <p:cNvPr id="2" name="Ευθεία γραμμή σύνδεσης 1">
            <a:extLst>
              <a:ext uri="{FF2B5EF4-FFF2-40B4-BE49-F238E27FC236}">
                <a16:creationId xmlns:a16="http://schemas.microsoft.com/office/drawing/2014/main" id="{6C046DAD-1F00-F73F-2C44-F8E0487ACA77}"/>
              </a:ext>
            </a:extLst>
          </p:cNvPr>
          <p:cNvCxnSpPr>
            <a:cxnSpLocks/>
          </p:cNvCxnSpPr>
          <p:nvPr/>
        </p:nvCxnSpPr>
        <p:spPr>
          <a:xfrm>
            <a:off x="544043" y="2547080"/>
            <a:ext cx="0" cy="1754326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Ευθεία γραμμή σύνδεσης 2">
            <a:extLst>
              <a:ext uri="{FF2B5EF4-FFF2-40B4-BE49-F238E27FC236}">
                <a16:creationId xmlns:a16="http://schemas.microsoft.com/office/drawing/2014/main" id="{A4BCDE75-B7FF-A270-2EF1-3BC354CEADAA}"/>
              </a:ext>
            </a:extLst>
          </p:cNvPr>
          <p:cNvCxnSpPr>
            <a:cxnSpLocks/>
          </p:cNvCxnSpPr>
          <p:nvPr/>
        </p:nvCxnSpPr>
        <p:spPr>
          <a:xfrm>
            <a:off x="4233554" y="2556043"/>
            <a:ext cx="0" cy="17543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631C804D-43C0-1388-C406-4EC054D43D35}"/>
              </a:ext>
            </a:extLst>
          </p:cNvPr>
          <p:cNvCxnSpPr>
            <a:cxnSpLocks/>
          </p:cNvCxnSpPr>
          <p:nvPr/>
        </p:nvCxnSpPr>
        <p:spPr>
          <a:xfrm>
            <a:off x="8316470" y="2556593"/>
            <a:ext cx="0" cy="175432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FDE5C150-48A6-54DB-045E-FAE852512849}"/>
              </a:ext>
            </a:extLst>
          </p:cNvPr>
          <p:cNvCxnSpPr>
            <a:cxnSpLocks/>
          </p:cNvCxnSpPr>
          <p:nvPr/>
        </p:nvCxnSpPr>
        <p:spPr>
          <a:xfrm>
            <a:off x="533410" y="4706570"/>
            <a:ext cx="0" cy="17543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1BCB0B6B-6130-9A9A-2E31-6742A6A15D26}"/>
              </a:ext>
            </a:extLst>
          </p:cNvPr>
          <p:cNvCxnSpPr>
            <a:cxnSpLocks/>
          </p:cNvCxnSpPr>
          <p:nvPr/>
        </p:nvCxnSpPr>
        <p:spPr>
          <a:xfrm>
            <a:off x="4222921" y="4715533"/>
            <a:ext cx="0" cy="175432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Ευθεία γραμμή σύνδεσης 9">
            <a:extLst>
              <a:ext uri="{FF2B5EF4-FFF2-40B4-BE49-F238E27FC236}">
                <a16:creationId xmlns:a16="http://schemas.microsoft.com/office/drawing/2014/main" id="{9B8EFEAA-F806-752C-19C7-C5A385724064}"/>
              </a:ext>
            </a:extLst>
          </p:cNvPr>
          <p:cNvCxnSpPr>
            <a:cxnSpLocks/>
          </p:cNvCxnSpPr>
          <p:nvPr/>
        </p:nvCxnSpPr>
        <p:spPr>
          <a:xfrm>
            <a:off x="8305837" y="4716083"/>
            <a:ext cx="0" cy="175432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88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Εικόνα 4">
            <a:extLst>
              <a:ext uri="{FF2B5EF4-FFF2-40B4-BE49-F238E27FC236}">
                <a16:creationId xmlns:a16="http://schemas.microsoft.com/office/drawing/2014/main" id="{8A148470-AD96-402F-C04C-49983128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1" y="183046"/>
            <a:ext cx="3826630" cy="3009866"/>
          </a:xfrm>
          <a:prstGeom prst="rect">
            <a:avLst/>
          </a:prstGeom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E3B4FF89-C45F-4E24-B963-61E85570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671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D0452672-DC49-29C5-454A-80084FEC2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116" y="182567"/>
            <a:ext cx="3827854" cy="3010829"/>
          </a:xfrm>
          <a:prstGeom prst="rect">
            <a:avLst/>
          </a:prstGeom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14F25C03-EF67-4344-8AEA-7B3FA0DED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7836" y="0"/>
            <a:ext cx="731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B620F61-8C82-C461-4B26-EA521E4CD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50638" y="123891"/>
            <a:ext cx="3827855" cy="31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F74793DE-3651-410B-B243-8F0B1468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59424" y="-2665476"/>
            <a:ext cx="73152" cy="121889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A4D54BD-FE4A-621D-AE6D-434244CC7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664" y="3626327"/>
            <a:ext cx="3827854" cy="305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B05260C-05A8-4958-73E6-EEF1BD77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8995" y="3646449"/>
            <a:ext cx="3827854" cy="301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3DC58C25-06C9-39E9-8D8D-1504F7AD95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0722" y="3646449"/>
            <a:ext cx="3827854" cy="301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9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BE75E-FDA1-F403-B730-94F9BE76B635}"/>
              </a:ext>
            </a:extLst>
          </p:cNvPr>
          <p:cNvSpPr txBox="1"/>
          <p:nvPr/>
        </p:nvSpPr>
        <p:spPr>
          <a:xfrm>
            <a:off x="584791" y="159488"/>
            <a:ext cx="4167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Risk Assessment by Company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7CB4B54-058D-E41F-BCFA-556242733C49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A16F18-564A-A265-D048-6CAA82205A9B}"/>
                  </a:ext>
                </a:extLst>
              </p:cNvPr>
              <p:cNvSpPr txBox="1"/>
              <p:nvPr/>
            </p:nvSpPr>
            <p:spPr>
              <a:xfrm>
                <a:off x="584791" y="944190"/>
                <a:ext cx="11057860" cy="195592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Η ανάλυση κινδύνου ανά εταιρία υπολογίστηκε ως :</a:t>
                </a:r>
                <a:endParaRPr lang="en-US" dirty="0"/>
              </a:p>
              <a:p>
                <a:endParaRPr lang="el-GR" dirty="0"/>
              </a:p>
              <a:p>
                <a:pPr algn="ctr"/>
                <a:r>
                  <a:rPr lang="en-US" b="1" dirty="0" err="1"/>
                  <a:t>risk_score</a:t>
                </a:r>
                <a:r>
                  <a:rPr lang="en-US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𝑵𝒆𝒈𝒂𝒕𝒊𝒄𝒆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𝑷𝒐𝒔𝒊𝒕𝒊𝒗𝒆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000" b="1" dirty="0"/>
                  <a:t> </a:t>
                </a:r>
              </a:p>
              <a:p>
                <a:endParaRPr lang="en-US" sz="2000" dirty="0"/>
              </a:p>
              <a:p>
                <a:r>
                  <a:rPr lang="el-GR" dirty="0"/>
                  <a:t>Οι υψηλότερες βαθμολογίες υποδουλώνουν μεγαλύτερη δυσαρέσκεια των εργαζόμενων και οργανωτικό κίνδυνο με βάση τις προβλέψεις του </a:t>
                </a:r>
                <a:r>
                  <a:rPr lang="en-US" dirty="0"/>
                  <a:t>BERT</a:t>
                </a:r>
                <a:endParaRPr lang="el-GR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A16F18-564A-A265-D048-6CAA82205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91" y="944190"/>
                <a:ext cx="11057860" cy="1955920"/>
              </a:xfrm>
              <a:prstGeom prst="rect">
                <a:avLst/>
              </a:prstGeom>
              <a:blipFill>
                <a:blip r:embed="rId2"/>
                <a:stretch>
                  <a:fillRect l="-440" t="-1235" b="-3395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Πίνακας 8">
            <a:extLst>
              <a:ext uri="{FF2B5EF4-FFF2-40B4-BE49-F238E27FC236}">
                <a16:creationId xmlns:a16="http://schemas.microsoft.com/office/drawing/2014/main" id="{7ACD522D-4E7F-00F5-7F18-F8F39FC55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61652"/>
              </p:ext>
            </p:extLst>
          </p:nvPr>
        </p:nvGraphicFramePr>
        <p:xfrm>
          <a:off x="584791" y="3501254"/>
          <a:ext cx="11057860" cy="308354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63488">
                  <a:extLst>
                    <a:ext uri="{9D8B030D-6E8A-4147-A177-3AD203B41FA5}">
                      <a16:colId xmlns:a16="http://schemas.microsoft.com/office/drawing/2014/main" val="109967901"/>
                    </a:ext>
                  </a:extLst>
                </a:gridCol>
                <a:gridCol w="1559656">
                  <a:extLst>
                    <a:ext uri="{9D8B030D-6E8A-4147-A177-3AD203B41FA5}">
                      <a16:colId xmlns:a16="http://schemas.microsoft.com/office/drawing/2014/main" val="2310613704"/>
                    </a:ext>
                  </a:extLst>
                </a:gridCol>
                <a:gridCol w="2211572">
                  <a:extLst>
                    <a:ext uri="{9D8B030D-6E8A-4147-A177-3AD203B41FA5}">
                      <a16:colId xmlns:a16="http://schemas.microsoft.com/office/drawing/2014/main" val="1242699214"/>
                    </a:ext>
                  </a:extLst>
                </a:gridCol>
                <a:gridCol w="2211572">
                  <a:extLst>
                    <a:ext uri="{9D8B030D-6E8A-4147-A177-3AD203B41FA5}">
                      <a16:colId xmlns:a16="http://schemas.microsoft.com/office/drawing/2014/main" val="2606894145"/>
                    </a:ext>
                  </a:extLst>
                </a:gridCol>
                <a:gridCol w="2211572">
                  <a:extLst>
                    <a:ext uri="{9D8B030D-6E8A-4147-A177-3AD203B41FA5}">
                      <a16:colId xmlns:a16="http://schemas.microsoft.com/office/drawing/2014/main" val="411344706"/>
                    </a:ext>
                  </a:extLst>
                </a:gridCol>
              </a:tblGrid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Firm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Negative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Neutral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Positive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Risk Score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48719730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The-Range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9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762586104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Mitie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5.67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645695193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ISS-Facility-Services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3.8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576628118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Link-Group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3.67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853406978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Creative-Support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259449564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HM-Prison-Service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4054997262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Grange-Hotels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352027638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Rapport-London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638198290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Four-Seasons-Health-Care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2.67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2175414021"/>
                  </a:ext>
                </a:extLst>
              </a:tr>
              <a:tr h="25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Debenhams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2.31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061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D408B45-A690-F4E8-3C83-7198D46AA49F}"/>
              </a:ext>
            </a:extLst>
          </p:cNvPr>
          <p:cNvSpPr txBox="1"/>
          <p:nvPr/>
        </p:nvSpPr>
        <p:spPr>
          <a:xfrm>
            <a:off x="549349" y="3131922"/>
            <a:ext cx="2096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E0000"/>
                </a:solidFill>
              </a:rPr>
              <a:t>Top 10 Companies</a:t>
            </a:r>
          </a:p>
        </p:txBody>
      </p:sp>
    </p:spTree>
    <p:extLst>
      <p:ext uri="{BB962C8B-B14F-4D97-AF65-F5344CB8AC3E}">
        <p14:creationId xmlns:p14="http://schemas.microsoft.com/office/powerpoint/2010/main" val="105109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Ορθογώνιο 17">
            <a:extLst>
              <a:ext uri="{FF2B5EF4-FFF2-40B4-BE49-F238E27FC236}">
                <a16:creationId xmlns:a16="http://schemas.microsoft.com/office/drawing/2014/main" id="{9DA8DDBF-2D92-A5F3-F009-705FC1A7BF55}"/>
              </a:ext>
            </a:extLst>
          </p:cNvPr>
          <p:cNvSpPr/>
          <p:nvPr/>
        </p:nvSpPr>
        <p:spPr>
          <a:xfrm>
            <a:off x="6443335" y="4423144"/>
            <a:ext cx="5273729" cy="2296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3518F-60DA-19C7-530C-FE79AE5D7BBA}"/>
              </a:ext>
            </a:extLst>
          </p:cNvPr>
          <p:cNvSpPr txBox="1"/>
          <p:nvPr/>
        </p:nvSpPr>
        <p:spPr>
          <a:xfrm>
            <a:off x="584791" y="159488"/>
            <a:ext cx="4256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 New Review Analysis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EAED2064-ACD5-EF8C-E3AC-5D5B571D0337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F06A0E-74DB-2AE0-CEEF-40A6FE45DB51}"/>
              </a:ext>
            </a:extLst>
          </p:cNvPr>
          <p:cNvSpPr txBox="1"/>
          <p:nvPr/>
        </p:nvSpPr>
        <p:spPr>
          <a:xfrm>
            <a:off x="584791" y="1057511"/>
            <a:ext cx="11426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Για την αξιολόγηση της πρακτικής εφαρμογής του μοντέλου, αναπτύχτηκε μια συνάρτηση ανάλυσης νέων κριτικών.</a:t>
            </a:r>
          </a:p>
          <a:p>
            <a:r>
              <a:rPr lang="el-GR" dirty="0"/>
              <a:t>Το μοντέλο πραγματοποιεί αυτόματη αναγνώριση των </a:t>
            </a:r>
            <a:r>
              <a:rPr lang="en-US" dirty="0"/>
              <a:t>aspects </a:t>
            </a:r>
            <a:r>
              <a:rPr lang="el-GR" dirty="0"/>
              <a:t>από ένα νέο κείμενο / μία νέα κριτική. 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D6AED-8C6F-43E3-ECA0-62D8BB668C24}"/>
              </a:ext>
            </a:extLst>
          </p:cNvPr>
          <p:cNvSpPr txBox="1"/>
          <p:nvPr/>
        </p:nvSpPr>
        <p:spPr>
          <a:xfrm>
            <a:off x="584790" y="2536447"/>
            <a:ext cx="7182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“The management was poor but salary and benefits were great. The schedule is flexible though.”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4E42E-A6A7-2761-BD81-7B66365CD204}"/>
              </a:ext>
            </a:extLst>
          </p:cNvPr>
          <p:cNvSpPr txBox="1"/>
          <p:nvPr/>
        </p:nvSpPr>
        <p:spPr>
          <a:xfrm>
            <a:off x="584790" y="4135873"/>
            <a:ext cx="7182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Κατάφερε να αναγνωρίσει τα </a:t>
            </a:r>
            <a:r>
              <a:rPr lang="en-US" dirty="0"/>
              <a:t>aspects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Δυσκολεύεται σε μικτές γνώμες εντός της πρότασης</a:t>
            </a:r>
            <a:endParaRPr lang="en-US" dirty="0"/>
          </a:p>
        </p:txBody>
      </p:sp>
      <p:graphicFrame>
        <p:nvGraphicFramePr>
          <p:cNvPr id="13" name="Πίνακας 12">
            <a:extLst>
              <a:ext uri="{FF2B5EF4-FFF2-40B4-BE49-F238E27FC236}">
                <a16:creationId xmlns:a16="http://schemas.microsoft.com/office/drawing/2014/main" id="{EDBFBEFD-663E-25C1-2974-1EB8BDFE8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88495"/>
              </p:ext>
            </p:extLst>
          </p:nvPr>
        </p:nvGraphicFramePr>
        <p:xfrm>
          <a:off x="6533884" y="4557703"/>
          <a:ext cx="5108767" cy="7569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576137">
                  <a:extLst>
                    <a:ext uri="{9D8B030D-6E8A-4147-A177-3AD203B41FA5}">
                      <a16:colId xmlns:a16="http://schemas.microsoft.com/office/drawing/2014/main" val="1400606923"/>
                    </a:ext>
                  </a:extLst>
                </a:gridCol>
                <a:gridCol w="1532630">
                  <a:extLst>
                    <a:ext uri="{9D8B030D-6E8A-4147-A177-3AD203B41FA5}">
                      <a16:colId xmlns:a16="http://schemas.microsoft.com/office/drawing/2014/main" val="245170422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Sentence          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Aspect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47748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0  management poor salary benefit great schedule ...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work_life_balance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52601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  management poor salary benefit great schedule ...   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comp_benefits  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2598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  management poor salary benefit great schedule ...        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</a:rPr>
                        <a:t>senior_mgmt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632179"/>
                  </a:ext>
                </a:extLst>
              </a:tr>
            </a:tbl>
          </a:graphicData>
        </a:graphic>
      </p:graphicFrame>
      <p:graphicFrame>
        <p:nvGraphicFramePr>
          <p:cNvPr id="14" name="Πίνακας 13">
            <a:extLst>
              <a:ext uri="{FF2B5EF4-FFF2-40B4-BE49-F238E27FC236}">
                <a16:creationId xmlns:a16="http://schemas.microsoft.com/office/drawing/2014/main" id="{FA0CE894-A601-1D02-F74F-983E72F00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53790"/>
              </p:ext>
            </p:extLst>
          </p:nvPr>
        </p:nvGraphicFramePr>
        <p:xfrm>
          <a:off x="6533884" y="5405848"/>
          <a:ext cx="2477914" cy="119746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30895">
                  <a:extLst>
                    <a:ext uri="{9D8B030D-6E8A-4147-A177-3AD203B41FA5}">
                      <a16:colId xmlns:a16="http://schemas.microsoft.com/office/drawing/2014/main" val="910659319"/>
                    </a:ext>
                  </a:extLst>
                </a:gridCol>
                <a:gridCol w="1247019">
                  <a:extLst>
                    <a:ext uri="{9D8B030D-6E8A-4147-A177-3AD203B41FA5}">
                      <a16:colId xmlns:a16="http://schemas.microsoft.com/office/drawing/2014/main" val="2482178471"/>
                    </a:ext>
                  </a:extLst>
                </a:gridCol>
              </a:tblGrid>
              <a:tr h="2993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 </a:t>
                      </a:r>
                      <a:r>
                        <a:rPr lang="en-US" sz="1200" u="none" strike="noStrike" dirty="0" err="1">
                          <a:effectLst/>
                          <a:latin typeface="+mn-lt"/>
                        </a:rPr>
                        <a:t>pred_label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</a:rPr>
                        <a:t>pred_prob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T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21505629"/>
                  </a:ext>
                </a:extLst>
              </a:tr>
              <a:tr h="2993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0   negative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0.392567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279429"/>
                  </a:ext>
                </a:extLst>
              </a:tr>
              <a:tr h="2993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   negative  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0.392567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0329471"/>
                  </a:ext>
                </a:extLst>
              </a:tr>
              <a:tr h="2993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2   negative  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0.392567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B w="19050" cap="flat" cmpd="sng" algn="ctr">
                      <a:solidFill>
                        <a:srgbClr val="9E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565032"/>
                  </a:ext>
                </a:extLst>
              </a:tr>
            </a:tbl>
          </a:graphicData>
        </a:graphic>
      </p:graphicFrame>
      <p:cxnSp>
        <p:nvCxnSpPr>
          <p:cNvPr id="15" name="Ευθεία γραμμή σύνδεσης 14">
            <a:extLst>
              <a:ext uri="{FF2B5EF4-FFF2-40B4-BE49-F238E27FC236}">
                <a16:creationId xmlns:a16="http://schemas.microsoft.com/office/drawing/2014/main" id="{5BBB767A-706B-7E48-A8F3-03255BEA8515}"/>
              </a:ext>
            </a:extLst>
          </p:cNvPr>
          <p:cNvCxnSpPr>
            <a:cxnSpLocks/>
          </p:cNvCxnSpPr>
          <p:nvPr/>
        </p:nvCxnSpPr>
        <p:spPr>
          <a:xfrm>
            <a:off x="584790" y="2536447"/>
            <a:ext cx="0" cy="1196699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Ευθεία γραμμή σύνδεσης 16">
            <a:extLst>
              <a:ext uri="{FF2B5EF4-FFF2-40B4-BE49-F238E27FC236}">
                <a16:creationId xmlns:a16="http://schemas.microsoft.com/office/drawing/2014/main" id="{C649EDD7-5B69-99E5-B652-E657EDD44893}"/>
              </a:ext>
            </a:extLst>
          </p:cNvPr>
          <p:cNvCxnSpPr>
            <a:cxnSpLocks/>
          </p:cNvCxnSpPr>
          <p:nvPr/>
        </p:nvCxnSpPr>
        <p:spPr>
          <a:xfrm>
            <a:off x="584790" y="4117924"/>
            <a:ext cx="0" cy="1196699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63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DEE31D-4FB1-0DA5-D9F3-E9F09276C77D}"/>
              </a:ext>
            </a:extLst>
          </p:cNvPr>
          <p:cNvSpPr txBox="1"/>
          <p:nvPr/>
        </p:nvSpPr>
        <p:spPr>
          <a:xfrm>
            <a:off x="584791" y="159488"/>
            <a:ext cx="2163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SWOT Analysis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26034E55-FA36-7AD3-2D77-17D0DB804E3F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Ομάδα 19">
            <a:extLst>
              <a:ext uri="{FF2B5EF4-FFF2-40B4-BE49-F238E27FC236}">
                <a16:creationId xmlns:a16="http://schemas.microsoft.com/office/drawing/2014/main" id="{BEB1FBF7-5D68-3EE9-191F-D75217D84FCD}"/>
              </a:ext>
            </a:extLst>
          </p:cNvPr>
          <p:cNvGrpSpPr/>
          <p:nvPr/>
        </p:nvGrpSpPr>
        <p:grpSpPr>
          <a:xfrm>
            <a:off x="694660" y="859625"/>
            <a:ext cx="10802680" cy="5285998"/>
            <a:chOff x="446567" y="1323203"/>
            <a:chExt cx="10802680" cy="5285998"/>
          </a:xfrm>
        </p:grpSpPr>
        <p:sp>
          <p:nvSpPr>
            <p:cNvPr id="8" name="Ελεύθερη σχεδίαση: Σχήμα 7">
              <a:extLst>
                <a:ext uri="{FF2B5EF4-FFF2-40B4-BE49-F238E27FC236}">
                  <a16:creationId xmlns:a16="http://schemas.microsoft.com/office/drawing/2014/main" id="{25F22AB4-ACFE-84CA-711C-C86799995CF3}"/>
                </a:ext>
              </a:extLst>
            </p:cNvPr>
            <p:cNvSpPr/>
            <p:nvPr/>
          </p:nvSpPr>
          <p:spPr>
            <a:xfrm>
              <a:off x="8729330" y="2392327"/>
              <a:ext cx="2519917" cy="4216874"/>
            </a:xfrm>
            <a:custGeom>
              <a:avLst/>
              <a:gdLst>
                <a:gd name="connsiteX0" fmla="*/ 1270592 w 2519917"/>
                <a:gd name="connsiteY0" fmla="*/ 0 h 4216874"/>
                <a:gd name="connsiteX1" fmla="*/ 1722475 w 2519917"/>
                <a:gd name="connsiteY1" fmla="*/ 380150 h 4216874"/>
                <a:gd name="connsiteX2" fmla="*/ 1713294 w 2519917"/>
                <a:gd name="connsiteY2" fmla="*/ 456764 h 4216874"/>
                <a:gd name="connsiteX3" fmla="*/ 1709209 w 2519917"/>
                <a:gd name="connsiteY3" fmla="*/ 467834 h 4216874"/>
                <a:gd name="connsiteX4" fmla="*/ 2519917 w 2519917"/>
                <a:gd name="connsiteY4" fmla="*/ 467834 h 4216874"/>
                <a:gd name="connsiteX5" fmla="*/ 2519917 w 2519917"/>
                <a:gd name="connsiteY5" fmla="*/ 4216874 h 4216874"/>
                <a:gd name="connsiteX6" fmla="*/ 0 w 2519917"/>
                <a:gd name="connsiteY6" fmla="*/ 4216874 h 4216874"/>
                <a:gd name="connsiteX7" fmla="*/ 0 w 2519917"/>
                <a:gd name="connsiteY7" fmla="*/ 467834 h 4216874"/>
                <a:gd name="connsiteX8" fmla="*/ 831975 w 2519917"/>
                <a:gd name="connsiteY8" fmla="*/ 467834 h 4216874"/>
                <a:gd name="connsiteX9" fmla="*/ 827890 w 2519917"/>
                <a:gd name="connsiteY9" fmla="*/ 456764 h 4216874"/>
                <a:gd name="connsiteX10" fmla="*/ 818709 w 2519917"/>
                <a:gd name="connsiteY10" fmla="*/ 380150 h 4216874"/>
                <a:gd name="connsiteX11" fmla="*/ 1270592 w 2519917"/>
                <a:gd name="connsiteY11" fmla="*/ 0 h 42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917" h="4216874">
                  <a:moveTo>
                    <a:pt x="1270592" y="0"/>
                  </a:moveTo>
                  <a:cubicBezTo>
                    <a:pt x="1520160" y="0"/>
                    <a:pt x="1722475" y="170199"/>
                    <a:pt x="1722475" y="380150"/>
                  </a:cubicBezTo>
                  <a:cubicBezTo>
                    <a:pt x="1722475" y="406394"/>
                    <a:pt x="1719314" y="432017"/>
                    <a:pt x="1713294" y="456764"/>
                  </a:cubicBezTo>
                  <a:lnTo>
                    <a:pt x="1709209" y="467834"/>
                  </a:lnTo>
                  <a:lnTo>
                    <a:pt x="2519917" y="467834"/>
                  </a:lnTo>
                  <a:lnTo>
                    <a:pt x="2519917" y="4216874"/>
                  </a:lnTo>
                  <a:lnTo>
                    <a:pt x="0" y="4216874"/>
                  </a:lnTo>
                  <a:lnTo>
                    <a:pt x="0" y="467834"/>
                  </a:lnTo>
                  <a:lnTo>
                    <a:pt x="831975" y="467834"/>
                  </a:lnTo>
                  <a:lnTo>
                    <a:pt x="827890" y="456764"/>
                  </a:lnTo>
                  <a:cubicBezTo>
                    <a:pt x="821870" y="432017"/>
                    <a:pt x="818709" y="406394"/>
                    <a:pt x="818709" y="380150"/>
                  </a:cubicBezTo>
                  <a:cubicBezTo>
                    <a:pt x="818709" y="170199"/>
                    <a:pt x="1021024" y="0"/>
                    <a:pt x="1270592" y="0"/>
                  </a:cubicBezTo>
                  <a:close/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Ελεύθερη σχεδίαση: Σχήμα 8">
              <a:extLst>
                <a:ext uri="{FF2B5EF4-FFF2-40B4-BE49-F238E27FC236}">
                  <a16:creationId xmlns:a16="http://schemas.microsoft.com/office/drawing/2014/main" id="{9A6B73D0-9027-74B3-C6C4-52B8B6931ED7}"/>
                </a:ext>
              </a:extLst>
            </p:cNvPr>
            <p:cNvSpPr/>
            <p:nvPr/>
          </p:nvSpPr>
          <p:spPr>
            <a:xfrm>
              <a:off x="5968409" y="2392327"/>
              <a:ext cx="2519917" cy="4216874"/>
            </a:xfrm>
            <a:custGeom>
              <a:avLst/>
              <a:gdLst>
                <a:gd name="connsiteX0" fmla="*/ 1270592 w 2519917"/>
                <a:gd name="connsiteY0" fmla="*/ 0 h 4216874"/>
                <a:gd name="connsiteX1" fmla="*/ 1722475 w 2519917"/>
                <a:gd name="connsiteY1" fmla="*/ 380150 h 4216874"/>
                <a:gd name="connsiteX2" fmla="*/ 1713294 w 2519917"/>
                <a:gd name="connsiteY2" fmla="*/ 456764 h 4216874"/>
                <a:gd name="connsiteX3" fmla="*/ 1709209 w 2519917"/>
                <a:gd name="connsiteY3" fmla="*/ 467834 h 4216874"/>
                <a:gd name="connsiteX4" fmla="*/ 2519917 w 2519917"/>
                <a:gd name="connsiteY4" fmla="*/ 467834 h 4216874"/>
                <a:gd name="connsiteX5" fmla="*/ 2519917 w 2519917"/>
                <a:gd name="connsiteY5" fmla="*/ 4216874 h 4216874"/>
                <a:gd name="connsiteX6" fmla="*/ 0 w 2519917"/>
                <a:gd name="connsiteY6" fmla="*/ 4216874 h 4216874"/>
                <a:gd name="connsiteX7" fmla="*/ 0 w 2519917"/>
                <a:gd name="connsiteY7" fmla="*/ 467834 h 4216874"/>
                <a:gd name="connsiteX8" fmla="*/ 831975 w 2519917"/>
                <a:gd name="connsiteY8" fmla="*/ 467834 h 4216874"/>
                <a:gd name="connsiteX9" fmla="*/ 827890 w 2519917"/>
                <a:gd name="connsiteY9" fmla="*/ 456764 h 4216874"/>
                <a:gd name="connsiteX10" fmla="*/ 818709 w 2519917"/>
                <a:gd name="connsiteY10" fmla="*/ 380150 h 4216874"/>
                <a:gd name="connsiteX11" fmla="*/ 1270592 w 2519917"/>
                <a:gd name="connsiteY11" fmla="*/ 0 h 42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917" h="4216874">
                  <a:moveTo>
                    <a:pt x="1270592" y="0"/>
                  </a:moveTo>
                  <a:cubicBezTo>
                    <a:pt x="1520160" y="0"/>
                    <a:pt x="1722475" y="170199"/>
                    <a:pt x="1722475" y="380150"/>
                  </a:cubicBezTo>
                  <a:cubicBezTo>
                    <a:pt x="1722475" y="406394"/>
                    <a:pt x="1719314" y="432017"/>
                    <a:pt x="1713294" y="456764"/>
                  </a:cubicBezTo>
                  <a:lnTo>
                    <a:pt x="1709209" y="467834"/>
                  </a:lnTo>
                  <a:lnTo>
                    <a:pt x="2519917" y="467834"/>
                  </a:lnTo>
                  <a:lnTo>
                    <a:pt x="2519917" y="4216874"/>
                  </a:lnTo>
                  <a:lnTo>
                    <a:pt x="0" y="4216874"/>
                  </a:lnTo>
                  <a:lnTo>
                    <a:pt x="0" y="467834"/>
                  </a:lnTo>
                  <a:lnTo>
                    <a:pt x="831975" y="467834"/>
                  </a:lnTo>
                  <a:lnTo>
                    <a:pt x="827890" y="456764"/>
                  </a:lnTo>
                  <a:cubicBezTo>
                    <a:pt x="821870" y="432017"/>
                    <a:pt x="818709" y="406394"/>
                    <a:pt x="818709" y="380150"/>
                  </a:cubicBezTo>
                  <a:cubicBezTo>
                    <a:pt x="818709" y="170199"/>
                    <a:pt x="1021024" y="0"/>
                    <a:pt x="1270592" y="0"/>
                  </a:cubicBezTo>
                  <a:close/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Ελεύθερη σχεδίαση: Σχήμα 9">
              <a:extLst>
                <a:ext uri="{FF2B5EF4-FFF2-40B4-BE49-F238E27FC236}">
                  <a16:creationId xmlns:a16="http://schemas.microsoft.com/office/drawing/2014/main" id="{DEAF1A3C-3908-9B89-81C3-49F0F1ECA5B3}"/>
                </a:ext>
              </a:extLst>
            </p:cNvPr>
            <p:cNvSpPr/>
            <p:nvPr/>
          </p:nvSpPr>
          <p:spPr>
            <a:xfrm>
              <a:off x="3207488" y="2392327"/>
              <a:ext cx="2519917" cy="4216874"/>
            </a:xfrm>
            <a:custGeom>
              <a:avLst/>
              <a:gdLst>
                <a:gd name="connsiteX0" fmla="*/ 1270592 w 2519917"/>
                <a:gd name="connsiteY0" fmla="*/ 0 h 4216874"/>
                <a:gd name="connsiteX1" fmla="*/ 1722475 w 2519917"/>
                <a:gd name="connsiteY1" fmla="*/ 380150 h 4216874"/>
                <a:gd name="connsiteX2" fmla="*/ 1713294 w 2519917"/>
                <a:gd name="connsiteY2" fmla="*/ 456764 h 4216874"/>
                <a:gd name="connsiteX3" fmla="*/ 1709209 w 2519917"/>
                <a:gd name="connsiteY3" fmla="*/ 467834 h 4216874"/>
                <a:gd name="connsiteX4" fmla="*/ 2519917 w 2519917"/>
                <a:gd name="connsiteY4" fmla="*/ 467834 h 4216874"/>
                <a:gd name="connsiteX5" fmla="*/ 2519917 w 2519917"/>
                <a:gd name="connsiteY5" fmla="*/ 4216874 h 4216874"/>
                <a:gd name="connsiteX6" fmla="*/ 0 w 2519917"/>
                <a:gd name="connsiteY6" fmla="*/ 4216874 h 4216874"/>
                <a:gd name="connsiteX7" fmla="*/ 0 w 2519917"/>
                <a:gd name="connsiteY7" fmla="*/ 467834 h 4216874"/>
                <a:gd name="connsiteX8" fmla="*/ 831975 w 2519917"/>
                <a:gd name="connsiteY8" fmla="*/ 467834 h 4216874"/>
                <a:gd name="connsiteX9" fmla="*/ 827890 w 2519917"/>
                <a:gd name="connsiteY9" fmla="*/ 456764 h 4216874"/>
                <a:gd name="connsiteX10" fmla="*/ 818709 w 2519917"/>
                <a:gd name="connsiteY10" fmla="*/ 380150 h 4216874"/>
                <a:gd name="connsiteX11" fmla="*/ 1270592 w 2519917"/>
                <a:gd name="connsiteY11" fmla="*/ 0 h 42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917" h="4216874">
                  <a:moveTo>
                    <a:pt x="1270592" y="0"/>
                  </a:moveTo>
                  <a:cubicBezTo>
                    <a:pt x="1520160" y="0"/>
                    <a:pt x="1722475" y="170199"/>
                    <a:pt x="1722475" y="380150"/>
                  </a:cubicBezTo>
                  <a:cubicBezTo>
                    <a:pt x="1722475" y="406394"/>
                    <a:pt x="1719314" y="432017"/>
                    <a:pt x="1713294" y="456764"/>
                  </a:cubicBezTo>
                  <a:lnTo>
                    <a:pt x="1709209" y="467834"/>
                  </a:lnTo>
                  <a:lnTo>
                    <a:pt x="2519917" y="467834"/>
                  </a:lnTo>
                  <a:lnTo>
                    <a:pt x="2519917" y="4216874"/>
                  </a:lnTo>
                  <a:lnTo>
                    <a:pt x="0" y="4216874"/>
                  </a:lnTo>
                  <a:lnTo>
                    <a:pt x="0" y="467834"/>
                  </a:lnTo>
                  <a:lnTo>
                    <a:pt x="831975" y="467834"/>
                  </a:lnTo>
                  <a:lnTo>
                    <a:pt x="827890" y="456764"/>
                  </a:lnTo>
                  <a:cubicBezTo>
                    <a:pt x="821870" y="432017"/>
                    <a:pt x="818709" y="406394"/>
                    <a:pt x="818709" y="380150"/>
                  </a:cubicBezTo>
                  <a:cubicBezTo>
                    <a:pt x="818709" y="170199"/>
                    <a:pt x="1021024" y="0"/>
                    <a:pt x="1270592" y="0"/>
                  </a:cubicBezTo>
                  <a:close/>
                </a:path>
              </a:pathLst>
            </a:custGeom>
            <a:noFill/>
            <a:ln>
              <a:solidFill>
                <a:srgbClr val="9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Ελεύθερη σχεδίαση: Σχήμα 10">
              <a:extLst>
                <a:ext uri="{FF2B5EF4-FFF2-40B4-BE49-F238E27FC236}">
                  <a16:creationId xmlns:a16="http://schemas.microsoft.com/office/drawing/2014/main" id="{949BF60A-6826-2BF6-E3A3-0B5F15ADE3BC}"/>
                </a:ext>
              </a:extLst>
            </p:cNvPr>
            <p:cNvSpPr/>
            <p:nvPr/>
          </p:nvSpPr>
          <p:spPr>
            <a:xfrm>
              <a:off x="446567" y="2392327"/>
              <a:ext cx="2519917" cy="4216874"/>
            </a:xfrm>
            <a:custGeom>
              <a:avLst/>
              <a:gdLst>
                <a:gd name="connsiteX0" fmla="*/ 1270592 w 2519917"/>
                <a:gd name="connsiteY0" fmla="*/ 0 h 4216874"/>
                <a:gd name="connsiteX1" fmla="*/ 1722475 w 2519917"/>
                <a:gd name="connsiteY1" fmla="*/ 380150 h 4216874"/>
                <a:gd name="connsiteX2" fmla="*/ 1713294 w 2519917"/>
                <a:gd name="connsiteY2" fmla="*/ 456764 h 4216874"/>
                <a:gd name="connsiteX3" fmla="*/ 1709209 w 2519917"/>
                <a:gd name="connsiteY3" fmla="*/ 467834 h 4216874"/>
                <a:gd name="connsiteX4" fmla="*/ 2519917 w 2519917"/>
                <a:gd name="connsiteY4" fmla="*/ 467834 h 4216874"/>
                <a:gd name="connsiteX5" fmla="*/ 2519917 w 2519917"/>
                <a:gd name="connsiteY5" fmla="*/ 4216874 h 4216874"/>
                <a:gd name="connsiteX6" fmla="*/ 0 w 2519917"/>
                <a:gd name="connsiteY6" fmla="*/ 4216874 h 4216874"/>
                <a:gd name="connsiteX7" fmla="*/ 0 w 2519917"/>
                <a:gd name="connsiteY7" fmla="*/ 467834 h 4216874"/>
                <a:gd name="connsiteX8" fmla="*/ 831975 w 2519917"/>
                <a:gd name="connsiteY8" fmla="*/ 467834 h 4216874"/>
                <a:gd name="connsiteX9" fmla="*/ 827890 w 2519917"/>
                <a:gd name="connsiteY9" fmla="*/ 456764 h 4216874"/>
                <a:gd name="connsiteX10" fmla="*/ 818709 w 2519917"/>
                <a:gd name="connsiteY10" fmla="*/ 380150 h 4216874"/>
                <a:gd name="connsiteX11" fmla="*/ 1270592 w 2519917"/>
                <a:gd name="connsiteY11" fmla="*/ 0 h 42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917" h="4216874">
                  <a:moveTo>
                    <a:pt x="1270592" y="0"/>
                  </a:moveTo>
                  <a:cubicBezTo>
                    <a:pt x="1520160" y="0"/>
                    <a:pt x="1722475" y="170199"/>
                    <a:pt x="1722475" y="380150"/>
                  </a:cubicBezTo>
                  <a:cubicBezTo>
                    <a:pt x="1722475" y="406394"/>
                    <a:pt x="1719314" y="432017"/>
                    <a:pt x="1713294" y="456764"/>
                  </a:cubicBezTo>
                  <a:lnTo>
                    <a:pt x="1709209" y="467834"/>
                  </a:lnTo>
                  <a:lnTo>
                    <a:pt x="2519917" y="467834"/>
                  </a:lnTo>
                  <a:lnTo>
                    <a:pt x="2519917" y="4216874"/>
                  </a:lnTo>
                  <a:lnTo>
                    <a:pt x="0" y="4216874"/>
                  </a:lnTo>
                  <a:lnTo>
                    <a:pt x="0" y="467834"/>
                  </a:lnTo>
                  <a:lnTo>
                    <a:pt x="831975" y="467834"/>
                  </a:lnTo>
                  <a:lnTo>
                    <a:pt x="827890" y="456764"/>
                  </a:lnTo>
                  <a:cubicBezTo>
                    <a:pt x="821870" y="432017"/>
                    <a:pt x="818709" y="406394"/>
                    <a:pt x="818709" y="380150"/>
                  </a:cubicBezTo>
                  <a:cubicBezTo>
                    <a:pt x="818709" y="170199"/>
                    <a:pt x="1021024" y="0"/>
                    <a:pt x="1270592" y="0"/>
                  </a:cubicBezTo>
                  <a:close/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Ορθογώνιο 11">
              <a:extLst>
                <a:ext uri="{FF2B5EF4-FFF2-40B4-BE49-F238E27FC236}">
                  <a16:creationId xmlns:a16="http://schemas.microsoft.com/office/drawing/2014/main" id="{BE15DE5B-EB93-6F2C-7E76-6DF93A23BD71}"/>
                </a:ext>
              </a:extLst>
            </p:cNvPr>
            <p:cNvSpPr/>
            <p:nvPr/>
          </p:nvSpPr>
          <p:spPr>
            <a:xfrm>
              <a:off x="1302488" y="1351856"/>
              <a:ext cx="80807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000" b="1" cap="none" spc="50" dirty="0">
                  <a:ln w="22225" cmpd="sng">
                    <a:solidFill>
                      <a:schemeClr val="accent1"/>
                    </a:solidFill>
                    <a:prstDash val="solid"/>
                  </a:ln>
                  <a:noFill/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</a:rPr>
                <a:t>S</a:t>
              </a:r>
              <a:endParaRPr lang="el-GR" sz="6000" b="1" cap="none" spc="50" dirty="0">
                <a:ln w="22225" cmpd="sng">
                  <a:solidFill>
                    <a:schemeClr val="accent1"/>
                  </a:solidFill>
                  <a:prstDash val="solid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13" name="Ορθογώνιο 12">
              <a:extLst>
                <a:ext uri="{FF2B5EF4-FFF2-40B4-BE49-F238E27FC236}">
                  <a16:creationId xmlns:a16="http://schemas.microsoft.com/office/drawing/2014/main" id="{D21DEC54-286D-934E-5BA0-6D056386F95E}"/>
                </a:ext>
              </a:extLst>
            </p:cNvPr>
            <p:cNvSpPr/>
            <p:nvPr/>
          </p:nvSpPr>
          <p:spPr>
            <a:xfrm>
              <a:off x="4063409" y="1382744"/>
              <a:ext cx="80807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000" b="1" spc="50" dirty="0">
                  <a:ln w="22225" cmpd="sng">
                    <a:solidFill>
                      <a:srgbClr val="9E0000"/>
                    </a:solidFill>
                    <a:prstDash val="solid"/>
                  </a:ln>
                  <a:noFill/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</a:rPr>
                <a:t>W</a:t>
              </a:r>
              <a:endParaRPr lang="el-GR" sz="6000" b="1" spc="50" dirty="0">
                <a:ln w="22225" cmpd="sng">
                  <a:solidFill>
                    <a:srgbClr val="9E0000"/>
                  </a:solidFill>
                  <a:prstDash val="solid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14" name="Ορθογώνιο 13">
              <a:extLst>
                <a:ext uri="{FF2B5EF4-FFF2-40B4-BE49-F238E27FC236}">
                  <a16:creationId xmlns:a16="http://schemas.microsoft.com/office/drawing/2014/main" id="{4B06B2DA-3C0B-79DD-3E57-E517EBEC6045}"/>
                </a:ext>
              </a:extLst>
            </p:cNvPr>
            <p:cNvSpPr/>
            <p:nvPr/>
          </p:nvSpPr>
          <p:spPr>
            <a:xfrm>
              <a:off x="6877492" y="1323203"/>
              <a:ext cx="80807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000" b="1" spc="50" dirty="0">
                  <a:ln w="9525" cmpd="sng">
                    <a:solidFill>
                      <a:srgbClr val="00B050"/>
                    </a:solidFill>
                    <a:prstDash val="solid"/>
                  </a:ln>
                  <a:noFill/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</a:rPr>
                <a:t>O</a:t>
              </a:r>
              <a:endParaRPr lang="el-GR" sz="6000" b="1" spc="50" dirty="0">
                <a:ln w="9525" cmpd="sng">
                  <a:solidFill>
                    <a:srgbClr val="00B050"/>
                  </a:solidFill>
                  <a:prstDash val="solid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15" name="Ορθογώνιο 14">
              <a:extLst>
                <a:ext uri="{FF2B5EF4-FFF2-40B4-BE49-F238E27FC236}">
                  <a16:creationId xmlns:a16="http://schemas.microsoft.com/office/drawing/2014/main" id="{77F919E6-18BE-638F-37A7-49BD6CD29A8E}"/>
                </a:ext>
              </a:extLst>
            </p:cNvPr>
            <p:cNvSpPr/>
            <p:nvPr/>
          </p:nvSpPr>
          <p:spPr>
            <a:xfrm>
              <a:off x="9585250" y="1396111"/>
              <a:ext cx="80807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000" b="1" spc="50" dirty="0">
                  <a:ln w="9525" cmpd="sng">
                    <a:solidFill>
                      <a:srgbClr val="FFC000"/>
                    </a:solidFill>
                    <a:prstDash val="solid"/>
                    <a:miter lim="800000"/>
                  </a:ln>
                  <a:noFill/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</a:rPr>
                <a:t>T</a:t>
              </a:r>
              <a:endParaRPr lang="el-GR" sz="6000" b="1" spc="50" dirty="0">
                <a:ln w="9525" cmpd="sng">
                  <a:solidFill>
                    <a:srgbClr val="FFC000"/>
                  </a:solidFill>
                  <a:prstDash val="solid"/>
                  <a:miter lim="800000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16" name="Οβάλ 15">
              <a:extLst>
                <a:ext uri="{FF2B5EF4-FFF2-40B4-BE49-F238E27FC236}">
                  <a16:creationId xmlns:a16="http://schemas.microsoft.com/office/drawing/2014/main" id="{7FB986BF-6CB2-DE19-F96A-53A855C75FD3}"/>
                </a:ext>
              </a:extLst>
            </p:cNvPr>
            <p:cNvSpPr/>
            <p:nvPr/>
          </p:nvSpPr>
          <p:spPr>
            <a:xfrm>
              <a:off x="1249325" y="1402488"/>
              <a:ext cx="914400" cy="91440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Οβάλ 16">
              <a:extLst>
                <a:ext uri="{FF2B5EF4-FFF2-40B4-BE49-F238E27FC236}">
                  <a16:creationId xmlns:a16="http://schemas.microsoft.com/office/drawing/2014/main" id="{A2538A92-3086-075C-F259-6A0C1A64CD1B}"/>
                </a:ext>
              </a:extLst>
            </p:cNvPr>
            <p:cNvSpPr/>
            <p:nvPr/>
          </p:nvSpPr>
          <p:spPr>
            <a:xfrm>
              <a:off x="6824329" y="1376664"/>
              <a:ext cx="914400" cy="9144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Οβάλ 17">
              <a:extLst>
                <a:ext uri="{FF2B5EF4-FFF2-40B4-BE49-F238E27FC236}">
                  <a16:creationId xmlns:a16="http://schemas.microsoft.com/office/drawing/2014/main" id="{B842DB8D-BFAF-1296-D7F2-1528F5BC3C31}"/>
                </a:ext>
              </a:extLst>
            </p:cNvPr>
            <p:cNvSpPr/>
            <p:nvPr/>
          </p:nvSpPr>
          <p:spPr>
            <a:xfrm>
              <a:off x="4010245" y="1402488"/>
              <a:ext cx="914400" cy="914400"/>
            </a:xfrm>
            <a:prstGeom prst="ellipse">
              <a:avLst/>
            </a:prstGeom>
            <a:noFill/>
            <a:ln>
              <a:solidFill>
                <a:srgbClr val="9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Οβάλ 18">
              <a:extLst>
                <a:ext uri="{FF2B5EF4-FFF2-40B4-BE49-F238E27FC236}">
                  <a16:creationId xmlns:a16="http://schemas.microsoft.com/office/drawing/2014/main" id="{AAB452EF-B144-C2C0-B0F9-C7E97AB92168}"/>
                </a:ext>
              </a:extLst>
            </p:cNvPr>
            <p:cNvSpPr/>
            <p:nvPr/>
          </p:nvSpPr>
          <p:spPr>
            <a:xfrm>
              <a:off x="9532087" y="1402488"/>
              <a:ext cx="914400" cy="9144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07E31779-5768-B2B7-833B-61C4A25F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744" y="1903941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0DECC48-6FAA-A568-4725-D9794B907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969" y="1873054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ACDC669F-2078-23DB-CC81-F91AAC78B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035" y="1903941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06FDBFF0-40CA-0226-E104-7823915BA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5750" y="1873054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1E0F41-4FF7-0148-A6C5-BE83DF1E83E9}"/>
              </a:ext>
            </a:extLst>
          </p:cNvPr>
          <p:cNvSpPr txBox="1"/>
          <p:nvPr/>
        </p:nvSpPr>
        <p:spPr>
          <a:xfrm>
            <a:off x="765542" y="2436748"/>
            <a:ext cx="23781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Strengths</a:t>
            </a:r>
            <a:endParaRPr lang="el-GR" sz="2000" b="1" dirty="0"/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Αποτελεσματική </a:t>
            </a:r>
            <a:r>
              <a:rPr lang="en-US" dirty="0"/>
              <a:t>fine – tuning </a:t>
            </a:r>
            <a:r>
              <a:rPr lang="el-GR" dirty="0"/>
              <a:t>διαδικασία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Ικανοποιητική γενίκευση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Ερμηνεύσιμα αποτελέσματα ανά </a:t>
            </a:r>
            <a:r>
              <a:rPr lang="en-US" dirty="0"/>
              <a:t>aspect  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80496-FFF7-D025-87DC-9DFDA08AC26F}"/>
              </a:ext>
            </a:extLst>
          </p:cNvPr>
          <p:cNvSpPr txBox="1"/>
          <p:nvPr/>
        </p:nvSpPr>
        <p:spPr>
          <a:xfrm>
            <a:off x="3455581" y="2452304"/>
            <a:ext cx="25445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Weakness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/>
              <a:t>Χαμηλή απόδοση σε ουδέτερες και αρνητικές κριτικές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/>
              <a:t>Περιορισμένη αντιπροσοπευτικό</a:t>
            </a:r>
            <a:r>
              <a:rPr lang="en-US"/>
              <a:t>-</a:t>
            </a:r>
            <a:r>
              <a:rPr lang="el-GR"/>
              <a:t>τητα λόγω μικρού δείγματος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/>
              <a:t>Εξάρτηση από προκαθορισμένες λέξεις για </a:t>
            </a:r>
            <a:r>
              <a:rPr lang="en-US"/>
              <a:t>aspect matching </a:t>
            </a:r>
            <a:r>
              <a:rPr lang="el-GR"/>
              <a:t>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E4488D-ED70-E6F4-7EB1-57B90FCCD1D1}"/>
              </a:ext>
            </a:extLst>
          </p:cNvPr>
          <p:cNvSpPr txBox="1"/>
          <p:nvPr/>
        </p:nvSpPr>
        <p:spPr>
          <a:xfrm>
            <a:off x="6191915" y="2436748"/>
            <a:ext cx="254450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Opportunities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Εκπαίδευση σε πλήρες </a:t>
            </a:r>
            <a:r>
              <a:rPr lang="en-US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Χρήση </a:t>
            </a:r>
            <a:r>
              <a:rPr lang="en-US" dirty="0"/>
              <a:t>GPU </a:t>
            </a:r>
            <a:r>
              <a:rPr lang="el-GR" dirty="0"/>
              <a:t>για ταχύτερη επανάληψη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Χρήση </a:t>
            </a:r>
            <a:r>
              <a:rPr lang="en-US" dirty="0"/>
              <a:t>embeddings &amp; clustering </a:t>
            </a:r>
            <a:r>
              <a:rPr lang="el-GR" dirty="0"/>
              <a:t>αντί για </a:t>
            </a:r>
            <a:r>
              <a:rPr lang="en-US" dirty="0"/>
              <a:t>keywords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– time</a:t>
            </a:r>
            <a:r>
              <a:rPr lang="el-GR" dirty="0"/>
              <a:t> </a:t>
            </a:r>
            <a:r>
              <a:rPr lang="en-US" dirty="0"/>
              <a:t>employee sentiment monitoring 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3079" name="TextBox 3078">
            <a:extLst>
              <a:ext uri="{FF2B5EF4-FFF2-40B4-BE49-F238E27FC236}">
                <a16:creationId xmlns:a16="http://schemas.microsoft.com/office/drawing/2014/main" id="{854052DF-8243-4B91-848F-87CFFBA3B4B1}"/>
              </a:ext>
            </a:extLst>
          </p:cNvPr>
          <p:cNvSpPr txBox="1"/>
          <p:nvPr/>
        </p:nvSpPr>
        <p:spPr>
          <a:xfrm>
            <a:off x="8965127" y="2436748"/>
            <a:ext cx="254450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Threads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Περιορισμένοι υπολογιστικοί πόροι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Παλαιότητα δεδομένων ( κριτικές μέχρι το 2022)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Ταχέως εξελισσόμενα </a:t>
            </a:r>
            <a:r>
              <a:rPr lang="en-US" dirty="0"/>
              <a:t>NLP </a:t>
            </a:r>
            <a:r>
              <a:rPr lang="el-GR" dirty="0"/>
              <a:t>μοντέλα, πιθανή τεχνολογική απαξίωση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7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842A1-02A3-8144-3199-0530D9D2A05C}"/>
              </a:ext>
            </a:extLst>
          </p:cNvPr>
          <p:cNvSpPr txBox="1"/>
          <p:nvPr/>
        </p:nvSpPr>
        <p:spPr>
          <a:xfrm>
            <a:off x="584791" y="159488"/>
            <a:ext cx="1860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Future Work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BF826E7A-B521-27D3-C159-0003A0AEFB7D}"/>
              </a:ext>
            </a:extLst>
          </p:cNvPr>
          <p:cNvCxnSpPr>
            <a:cxnSpLocks/>
          </p:cNvCxnSpPr>
          <p:nvPr/>
        </p:nvCxnSpPr>
        <p:spPr>
          <a:xfrm>
            <a:off x="584791" y="712377"/>
            <a:ext cx="11057860" cy="0"/>
          </a:xfrm>
          <a:prstGeom prst="line">
            <a:avLst/>
          </a:prstGeom>
          <a:ln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3FFE0D-B4DF-AE61-2FED-51D43F481A64}"/>
              </a:ext>
            </a:extLst>
          </p:cNvPr>
          <p:cNvSpPr txBox="1"/>
          <p:nvPr/>
        </p:nvSpPr>
        <p:spPr>
          <a:xfrm>
            <a:off x="721165" y="1188092"/>
            <a:ext cx="596309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Model Improvement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Χρήση </a:t>
            </a:r>
            <a:r>
              <a:rPr lang="en-US" dirty="0"/>
              <a:t>embeddings &amp; clustering </a:t>
            </a:r>
            <a:r>
              <a:rPr lang="el-GR" dirty="0"/>
              <a:t>αντί για </a:t>
            </a:r>
            <a:r>
              <a:rPr lang="en-US" dirty="0"/>
              <a:t>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Supervised multi-label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Αυτόματη ανίχνευση θεμάτων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Δοκιμή πιο εξελιγμένων </a:t>
            </a:r>
            <a:r>
              <a:rPr lang="el-GR" dirty="0" err="1"/>
              <a:t>αρχιτεκτονιών</a:t>
            </a:r>
            <a:r>
              <a:rPr lang="el-GR" dirty="0"/>
              <a:t> </a:t>
            </a:r>
            <a:r>
              <a:rPr lang="en-US" dirty="0"/>
              <a:t>(</a:t>
            </a:r>
            <a:r>
              <a:rPr lang="en-US" dirty="0" err="1"/>
              <a:t>RoBERTa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Εκπαίδευση μοντέλου σε πλήρες </a:t>
            </a:r>
            <a:r>
              <a:rPr lang="en-US" dirty="0"/>
              <a:t>Dataset  </a:t>
            </a:r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D14C38D9-95D0-E169-B0AD-EBFD96E9A749}"/>
              </a:ext>
            </a:extLst>
          </p:cNvPr>
          <p:cNvCxnSpPr>
            <a:cxnSpLocks/>
          </p:cNvCxnSpPr>
          <p:nvPr/>
        </p:nvCxnSpPr>
        <p:spPr>
          <a:xfrm>
            <a:off x="625218" y="1188092"/>
            <a:ext cx="0" cy="1640168"/>
          </a:xfrm>
          <a:prstGeom prst="line">
            <a:avLst/>
          </a:prstGeom>
          <a:ln w="38100">
            <a:solidFill>
              <a:srgbClr val="9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86677B-BFD3-186A-3802-1A728941FADE}"/>
              </a:ext>
            </a:extLst>
          </p:cNvPr>
          <p:cNvSpPr txBox="1"/>
          <p:nvPr/>
        </p:nvSpPr>
        <p:spPr>
          <a:xfrm>
            <a:off x="7759664" y="3188394"/>
            <a:ext cx="596309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Company Level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Benchmarking </a:t>
            </a:r>
            <a:r>
              <a:rPr lang="el-GR" dirty="0"/>
              <a:t>μεταξύ εταιριών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Ανάλυση ανά κλάδο και τομέα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Βελτίωση </a:t>
            </a:r>
            <a:r>
              <a:rPr lang="en-US" dirty="0"/>
              <a:t>risk scoring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89F77-32AF-6493-0AD9-60ADA70CB8B0}"/>
              </a:ext>
            </a:extLst>
          </p:cNvPr>
          <p:cNvSpPr txBox="1"/>
          <p:nvPr/>
        </p:nvSpPr>
        <p:spPr>
          <a:xfrm>
            <a:off x="625218" y="4666597"/>
            <a:ext cx="596309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Συλλογή δεδομένων 2023 + για ανάκτηση </a:t>
            </a:r>
            <a:r>
              <a:rPr lang="en-US" dirty="0"/>
              <a:t>post-COVID </a:t>
            </a:r>
            <a:r>
              <a:rPr lang="el-GR" dirty="0"/>
              <a:t>τάσεων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Real-time </a:t>
            </a:r>
            <a:r>
              <a:rPr lang="el-GR" dirty="0"/>
              <a:t>ανάλυση κριτικών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Αυτόματη δημιουργία </a:t>
            </a:r>
            <a:r>
              <a:rPr lang="en-US" dirty="0"/>
              <a:t>reports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Απευθείας σύνδεση με πλατφόρμες </a:t>
            </a:r>
            <a:r>
              <a:rPr lang="en-US" dirty="0"/>
              <a:t>HR</a:t>
            </a:r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DDB3F460-F3C4-2475-43D8-49483D3F55E1}"/>
              </a:ext>
            </a:extLst>
          </p:cNvPr>
          <p:cNvCxnSpPr>
            <a:cxnSpLocks/>
          </p:cNvCxnSpPr>
          <p:nvPr/>
        </p:nvCxnSpPr>
        <p:spPr>
          <a:xfrm>
            <a:off x="7729208" y="3188394"/>
            <a:ext cx="0" cy="12311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Ευθεία γραμμή σύνδεσης 24">
            <a:extLst>
              <a:ext uri="{FF2B5EF4-FFF2-40B4-BE49-F238E27FC236}">
                <a16:creationId xmlns:a16="http://schemas.microsoft.com/office/drawing/2014/main" id="{71538AD6-90EC-FE2D-F5B9-2BFCAC98E8DA}"/>
              </a:ext>
            </a:extLst>
          </p:cNvPr>
          <p:cNvCxnSpPr>
            <a:cxnSpLocks/>
          </p:cNvCxnSpPr>
          <p:nvPr/>
        </p:nvCxnSpPr>
        <p:spPr>
          <a:xfrm>
            <a:off x="491980" y="4666597"/>
            <a:ext cx="0" cy="170230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895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4" descr="How Natural Language Processing can Revolutionize Human Resources - AIHR">
            <a:extLst>
              <a:ext uri="{FF2B5EF4-FFF2-40B4-BE49-F238E27FC236}">
                <a16:creationId xmlns:a16="http://schemas.microsoft.com/office/drawing/2014/main" id="{4735CA18-046C-6469-0317-D74A36C3F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9"/>
          <a:stretch>
            <a:fillRect/>
          </a:stretch>
        </p:blipFill>
        <p:spPr bwMode="auto">
          <a:xfrm>
            <a:off x="-1504" y="0"/>
            <a:ext cx="12191980" cy="68567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D235AD-901B-EBFF-A8B1-57EE74B0450A}"/>
              </a:ext>
            </a:extLst>
          </p:cNvPr>
          <p:cNvSpPr txBox="1"/>
          <p:nvPr/>
        </p:nvSpPr>
        <p:spPr>
          <a:xfrm>
            <a:off x="3408430" y="424543"/>
            <a:ext cx="5372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73721783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</TotalTime>
  <Words>1390</Words>
  <Application>Microsoft Office PowerPoint</Application>
  <PresentationFormat>Ευρεία οθόνη</PresentationFormat>
  <Paragraphs>363</Paragraphs>
  <Slides>17</Slides>
  <Notes>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Cambria Math</vt:lpstr>
      <vt:lpstr>quote-cjk-patch</vt:lpstr>
      <vt:lpstr>Wingdings</vt:lpstr>
      <vt:lpstr>Θέμα του Office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IOANNA</dc:creator>
  <cp:lastModifiedBy>IOANNA PAPADATOU - GIGANTE</cp:lastModifiedBy>
  <cp:revision>22</cp:revision>
  <dcterms:created xsi:type="dcterms:W3CDTF">2025-10-29T10:43:52Z</dcterms:created>
  <dcterms:modified xsi:type="dcterms:W3CDTF">2025-11-02T18:20:22Z</dcterms:modified>
</cp:coreProperties>
</file>